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customXml/itemProps90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6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customXml" Target="../customXml/item1.xml"/><Relationship Id="rId15" Type="http://schemas.openxmlformats.org/officeDocument/2006/relationships/customXmlProps" Target="../customXml/itemProps90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image" Target="../media/image1.png"/><Relationship Id="rId1" Type="http://schemas.openxmlformats.org/officeDocument/2006/relationships/tags" Target="../tags/tag8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22275" y="269240"/>
            <a:ext cx="6599555" cy="528955"/>
          </a:xfrm>
        </p:spPr>
        <p:txBody>
          <a:bodyPr>
            <a:normAutofit fontScale="90000"/>
          </a:bodyPr>
          <a:p>
            <a:r>
              <a:rPr lang="en-US" altLang="zh-CN" sz="2220"/>
              <a:t>DIMENSION 1 - VISUAL ORGANIZATION</a:t>
            </a:r>
            <a:endParaRPr lang="en-US" altLang="zh-CN" sz="222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698500" y="1059815"/>
            <a:ext cx="10993755" cy="4999990"/>
          </a:xfrm>
        </p:spPr>
        <p:txBody>
          <a:bodyPr>
            <a:normAutofit fontScale="25000"/>
          </a:bodyPr>
          <a:p>
            <a:pPr algn="l"/>
            <a:r>
              <a:rPr lang="en-US" altLang="zh-CN" sz="5600"/>
              <a:t>Core question: How coherently is the visible content spatially organized within the single-page screenshot?</a:t>
            </a:r>
            <a:endParaRPr lang="en-US" altLang="zh-CN" sz="5600"/>
          </a:p>
          <a:p>
            <a:pPr algn="l"/>
            <a:r>
              <a:rPr lang="en-US" altLang="zh-CN" sz="5600"/>
              <a:t>Consider:</a:t>
            </a:r>
            <a:endParaRPr lang="en-US" altLang="zh-CN" sz="5600"/>
          </a:p>
          <a:p>
            <a:pPr algn="l"/>
            <a:r>
              <a:rPr lang="en-US" altLang="zh-CN" sz="5600"/>
              <a:t>- visual hierarchy and focal clarity</a:t>
            </a:r>
            <a:endParaRPr lang="en-US" altLang="zh-CN" sz="5600"/>
          </a:p>
          <a:p>
            <a:pPr algn="l"/>
            <a:r>
              <a:rPr lang="en-US" altLang="zh-CN" sz="5600"/>
              <a:t>- alignment and grid coherence</a:t>
            </a:r>
            <a:endParaRPr lang="en-US" altLang="zh-CN" sz="5600"/>
          </a:p>
          <a:p>
            <a:pPr algn="l"/>
            <a:r>
              <a:rPr lang="en-US" altLang="zh-CN" sz="5600"/>
              <a:t>- grouping of related elements</a:t>
            </a:r>
            <a:endParaRPr lang="en-US" altLang="zh-CN" sz="5600"/>
          </a:p>
          <a:p>
            <a:pPr algn="l"/>
            <a:r>
              <a:rPr lang="en-US" altLang="zh-CN" sz="5600"/>
              <a:t>- proximity and relationship clarity</a:t>
            </a:r>
            <a:endParaRPr lang="en-US" altLang="zh-CN" sz="5600"/>
          </a:p>
          <a:p>
            <a:pPr algn="l"/>
            <a:r>
              <a:rPr lang="en-US" altLang="zh-CN" sz="5600"/>
              <a:t>- section organization and visible reading sequence</a:t>
            </a:r>
            <a:endParaRPr lang="en-US" altLang="zh-CN" sz="5600"/>
          </a:p>
          <a:p>
            <a:pPr algn="l"/>
            <a:r>
              <a:rPr lang="en-US" altLang="zh-CN" sz="5600"/>
              <a:t>- balance and proportions</a:t>
            </a:r>
            <a:endParaRPr lang="en-US" altLang="zh-CN" sz="5600"/>
          </a:p>
          <a:p>
            <a:pPr algn="l"/>
            <a:r>
              <a:rPr lang="en-US" altLang="zh-CN" sz="5600"/>
              <a:t>- density and whitespace</a:t>
            </a:r>
            <a:endParaRPr lang="en-US" altLang="zh-CN" sz="5600"/>
          </a:p>
          <a:p>
            <a:pPr algn="l"/>
            <a:r>
              <a:rPr lang="en-US" altLang="zh-CN" sz="5600"/>
              <a:t>- whether visual mass is distributed appropriately across the page</a:t>
            </a:r>
            <a:endParaRPr lang="en-US" altLang="zh-CN" sz="5600"/>
          </a:p>
          <a:p>
            <a:pPr algn="l"/>
            <a:r>
              <a:rPr lang="en-US" altLang="zh-CN" sz="5600"/>
              <a:t>- whether elements are unintentionally misaligned, overlapping, clipped,</a:t>
            </a:r>
            <a:endParaRPr lang="en-US" altLang="zh-CN" sz="5600"/>
          </a:p>
          <a:p>
            <a:pPr algn="l"/>
            <a:r>
              <a:rPr lang="en-US" altLang="zh-CN" sz="5600"/>
              <a:t>  fragmented, or awkwardly positioned</a:t>
            </a:r>
            <a:endParaRPr lang="en-US" altLang="zh-CN" sz="5600"/>
          </a:p>
          <a:p>
            <a:pPr algn="l"/>
            <a:r>
              <a:rPr lang="en-US" altLang="zh-CN" sz="5600"/>
              <a:t>- whether the visible page forms a coherent single-page composition</a:t>
            </a:r>
            <a:endParaRPr lang="en-US" altLang="zh-CN" sz="5600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19125" y="295275"/>
            <a:ext cx="7191375" cy="476250"/>
          </a:xfrm>
        </p:spPr>
        <p:txBody>
          <a:bodyPr>
            <a:normAutofit/>
          </a:bodyPr>
          <a:p>
            <a:pPr algn="l"/>
            <a:r>
              <a:rPr lang="en-US" altLang="zh-CN" sz="2220"/>
              <a:t>DIMENSION 2 - CONTENT FIDELITY</a:t>
            </a:r>
            <a:endParaRPr lang="en-US" altLang="zh-CN" sz="222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698500" y="1059815"/>
            <a:ext cx="9888220" cy="4829175"/>
          </a:xfrm>
        </p:spPr>
        <p:txBody>
          <a:bodyPr>
            <a:normAutofit fontScale="25000"/>
          </a:bodyPr>
          <a:p>
            <a:pPr algn="l"/>
            <a:r>
              <a:rPr lang="en-US" altLang="zh-CN" sz="5600"/>
              <a:t>Core question: How completely and correctly does the visible non-interactive content in the</a:t>
            </a:r>
            <a:endParaRPr lang="en-US" altLang="zh-CN" sz="5600"/>
          </a:p>
          <a:p>
            <a:pPr algn="l"/>
            <a:r>
              <a:rPr lang="en-US" altLang="zh-CN" sz="5600"/>
              <a:t>screenshot correspond to the supplied GUI requirement?</a:t>
            </a:r>
            <a:endParaRPr lang="en-US" altLang="zh-CN" sz="5600"/>
          </a:p>
          <a:p>
            <a:pPr algn="l"/>
            <a:r>
              <a:rPr lang="en-US" altLang="zh-CN" sz="5600"/>
              <a:t>Consider:</a:t>
            </a:r>
            <a:endParaRPr lang="en-US" altLang="zh-CN" sz="5600"/>
          </a:p>
          <a:p>
            <a:pPr algn="l"/>
            <a:r>
              <a:rPr lang="en-US" altLang="zh-CN" sz="5600"/>
              <a:t>- completeness of explicitly required visible content</a:t>
            </a:r>
            <a:endParaRPr lang="en-US" altLang="zh-CN" sz="5600"/>
          </a:p>
          <a:p>
            <a:pPr algn="l"/>
            <a:r>
              <a:rPr lang="en-US" altLang="zh-CN" sz="5600"/>
              <a:t>- correctness of explicitly required visible information</a:t>
            </a:r>
            <a:endParaRPr lang="en-US" altLang="zh-CN" sz="5600"/>
          </a:p>
          <a:p>
            <a:pPr algn="l"/>
            <a:r>
              <a:rPr lang="en-US" altLang="zh-CN" sz="5600"/>
              <a:t>- presence of explicitly required sections and content blocks</a:t>
            </a:r>
            <a:endParaRPr lang="en-US" altLang="zh-CN" sz="5600"/>
          </a:p>
          <a:p>
            <a:pPr algn="l"/>
            <a:r>
              <a:rPr lang="en-US" altLang="zh-CN" sz="5600"/>
              <a:t>- </a:t>
            </a:r>
            <a:r>
              <a:rPr lang="en-US" altLang="zh-CN" sz="5600"/>
              <a:t>whether missing required text, images, information, or components </a:t>
            </a:r>
            <a:endParaRPr lang="en-US" altLang="zh-CN" sz="5600"/>
          </a:p>
          <a:p>
            <a:pPr algn="l"/>
            <a:r>
              <a:rPr lang="en-US" altLang="zh-CN" sz="5600"/>
              <a:t>- incorrect or contradictory visible information</a:t>
            </a:r>
            <a:endParaRPr lang="en-US" altLang="zh-CN" sz="5600"/>
          </a:p>
          <a:p>
            <a:pPr algn="l"/>
            <a:r>
              <a:rPr lang="en-US" altLang="zh-CN" sz="5600"/>
              <a:t>- materially unsupported visible additions</a:t>
            </a:r>
            <a:endParaRPr lang="en-US" altLang="zh-CN" sz="5600"/>
          </a:p>
          <a:p>
            <a:pPr algn="l"/>
            <a:r>
              <a:rPr lang="en-US" altLang="zh-CN" sz="5600"/>
              <a:t>- correspondence between the requirement and the generated screenshot</a:t>
            </a:r>
            <a:endParaRPr lang="en-US" altLang="zh-CN" sz="5600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22275" y="269240"/>
            <a:ext cx="7362825" cy="554990"/>
          </a:xfrm>
        </p:spPr>
        <p:txBody>
          <a:bodyPr>
            <a:normAutofit fontScale="90000"/>
          </a:bodyPr>
          <a:p>
            <a:r>
              <a:rPr lang="en-US" altLang="zh-CN" sz="2220"/>
              <a:t>DIMENSION 3 - VISUAL LANGUAGE QUALITY</a:t>
            </a:r>
            <a:endParaRPr lang="en-US" altLang="zh-CN" sz="222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698500" y="1059815"/>
            <a:ext cx="10993755" cy="4999990"/>
          </a:xfrm>
        </p:spPr>
        <p:txBody>
          <a:bodyPr>
            <a:normAutofit fontScale="25000"/>
          </a:bodyPr>
          <a:p>
            <a:pPr algn="l"/>
            <a:r>
              <a:rPr lang="en-US" altLang="zh-CN" sz="5600"/>
              <a:t>Core question: How coherent, legible, and visually consistent is the visible design language</a:t>
            </a:r>
            <a:endParaRPr lang="en-US" altLang="zh-CN" sz="5600"/>
          </a:p>
          <a:p>
            <a:pPr algn="l"/>
            <a:r>
              <a:rPr lang="en-US" altLang="zh-CN" sz="5600"/>
              <a:t>of the screenshot?</a:t>
            </a:r>
            <a:endParaRPr lang="en-US" altLang="zh-CN" sz="5600"/>
          </a:p>
          <a:p>
            <a:pPr algn="l"/>
            <a:r>
              <a:rPr lang="en-US" altLang="zh-CN" sz="5600"/>
              <a:t>Consider:</a:t>
            </a:r>
            <a:endParaRPr lang="en-US" altLang="zh-CN" sz="5600"/>
          </a:p>
          <a:p>
            <a:pPr algn="l"/>
            <a:r>
              <a:rPr lang="en-US" altLang="zh-CN" sz="5600"/>
              <a:t>A. Color Harmony and Palette Coherence</a:t>
            </a:r>
            <a:endParaRPr lang="en-US" altLang="zh-CN" sz="5600"/>
          </a:p>
          <a:p>
            <a:pPr algn="l"/>
            <a:r>
              <a:rPr lang="en-US" altLang="zh-CN" sz="5600"/>
              <a:t>- whether colors work well together</a:t>
            </a:r>
            <a:endParaRPr lang="en-US" altLang="zh-CN" sz="5600"/>
          </a:p>
          <a:p>
            <a:pPr algn="l"/>
            <a:r>
              <a:rPr lang="en-US" altLang="zh-CN" sz="5600"/>
              <a:t>- whether color choices appear purposeful</a:t>
            </a:r>
            <a:endParaRPr lang="en-US" altLang="zh-CN" sz="5600"/>
          </a:p>
          <a:p>
            <a:pPr algn="l"/>
            <a:r>
              <a:rPr lang="en-US" altLang="zh-CN" sz="5600"/>
              <a:t>- whether the palette is applied consistently</a:t>
            </a:r>
            <a:endParaRPr lang="en-US" altLang="zh-CN" sz="5600"/>
          </a:p>
          <a:p>
            <a:pPr algn="l"/>
            <a:r>
              <a:rPr lang="en-US" altLang="zh-CN" sz="5600"/>
              <a:t>- whether recurring colors have coherent visual roles</a:t>
            </a:r>
            <a:endParaRPr lang="en-US" altLang="zh-CN" sz="5600"/>
          </a:p>
          <a:p>
            <a:pPr algn="l"/>
            <a:endParaRPr lang="en-US" altLang="zh-CN" sz="5600"/>
          </a:p>
          <a:p>
            <a:pPr algn="l"/>
            <a:r>
              <a:rPr lang="en-US" altLang="zh-CN" sz="5600"/>
              <a:t>B. Contrast and Visual Discriminability</a:t>
            </a:r>
            <a:endParaRPr lang="en-US" altLang="zh-CN" sz="5600"/>
          </a:p>
          <a:p>
            <a:pPr algn="l"/>
            <a:r>
              <a:rPr lang="en-US" altLang="zh-CN" sz="5600"/>
              <a:t>- whether text is distinguishable from its background</a:t>
            </a:r>
            <a:endParaRPr lang="en-US" altLang="zh-CN" sz="5600"/>
          </a:p>
          <a:p>
            <a:pPr algn="l"/>
            <a:r>
              <a:rPr lang="en-US" altLang="zh-CN" sz="5600"/>
              <a:t>- whether controls and foreground elements are visually distinguishable</a:t>
            </a:r>
            <a:endParaRPr lang="en-US" altLang="zh-CN" sz="5600"/>
          </a:p>
          <a:p>
            <a:pPr algn="l"/>
            <a:r>
              <a:rPr lang="en-US" altLang="zh-CN" sz="5600"/>
              <a:t>- whether important visual layers can be differentiated</a:t>
            </a:r>
            <a:endParaRPr lang="en-US" altLang="zh-CN" sz="5600"/>
          </a:p>
          <a:p>
            <a:pPr algn="l"/>
            <a:r>
              <a:rPr lang="en-US" altLang="zh-CN" sz="5600"/>
              <a:t>- whether low contrast makes visible information difficult to perceive</a:t>
            </a:r>
            <a:endParaRPr lang="en-US" altLang="zh-CN" sz="5600"/>
          </a:p>
          <a:p>
            <a:pPr algn="l"/>
            <a:endParaRPr lang="en-US" altLang="zh-CN" sz="5600"/>
          </a:p>
          <a:p>
            <a:pPr algn="l"/>
            <a:endParaRPr lang="en-US" altLang="zh-CN" sz="5600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698500" y="1059815"/>
            <a:ext cx="10993755" cy="4999990"/>
          </a:xfrm>
        </p:spPr>
        <p:txBody>
          <a:bodyPr>
            <a:normAutofit fontScale="25000"/>
          </a:bodyPr>
          <a:p>
            <a:pPr algn="l"/>
            <a:r>
              <a:rPr lang="en-US" altLang="zh-CN" sz="5600">
                <a:sym typeface="+mn-ea"/>
              </a:rPr>
              <a:t>C. Typography and Text Legibility</a:t>
            </a:r>
            <a:endParaRPr lang="en-US" altLang="zh-CN" sz="5600"/>
          </a:p>
          <a:p>
            <a:pPr algn="l"/>
            <a:r>
              <a:rPr lang="en-US" altLang="zh-CN" sz="5600">
                <a:sym typeface="+mn-ea"/>
              </a:rPr>
              <a:t>- font-size appropriateness</a:t>
            </a:r>
            <a:endParaRPr lang="en-US" altLang="zh-CN" sz="5600"/>
          </a:p>
          <a:p>
            <a:pPr algn="l"/>
            <a:r>
              <a:rPr lang="en-US" altLang="zh-CN" sz="5600">
                <a:sym typeface="+mn-ea"/>
              </a:rPr>
              <a:t>- weight and style consistency</a:t>
            </a:r>
            <a:endParaRPr lang="en-US" altLang="zh-CN" sz="5600"/>
          </a:p>
          <a:p>
            <a:pPr algn="l"/>
            <a:r>
              <a:rPr lang="en-US" altLang="zh-CN" sz="5600">
                <a:sym typeface="+mn-ea"/>
              </a:rPr>
              <a:t>- visible heading and body-text differentiation</a:t>
            </a:r>
            <a:endParaRPr lang="en-US" altLang="zh-CN" sz="5600"/>
          </a:p>
          <a:p>
            <a:pPr algn="l"/>
            <a:r>
              <a:rPr lang="en-US" altLang="zh-CN" sz="5600">
                <a:sym typeface="+mn-ea"/>
              </a:rPr>
              <a:t>- readable text presentation</a:t>
            </a:r>
            <a:endParaRPr lang="en-US" altLang="zh-CN" sz="5600"/>
          </a:p>
          <a:p>
            <a:pPr algn="l"/>
            <a:r>
              <a:rPr lang="en-US" altLang="zh-CN" sz="5600">
                <a:sym typeface="+mn-ea"/>
              </a:rPr>
              <a:t>- avoidance of problematic text overlap</a:t>
            </a:r>
            <a:endParaRPr lang="en-US" altLang="zh-CN" sz="5600"/>
          </a:p>
          <a:p>
            <a:pPr algn="l"/>
            <a:r>
              <a:rPr lang="en-US" altLang="zh-CN" sz="5600">
                <a:sym typeface="+mn-ea"/>
              </a:rPr>
              <a:t>- consistency of typographic treatment</a:t>
            </a:r>
            <a:endParaRPr lang="en-US" altLang="zh-CN" sz="5600"/>
          </a:p>
          <a:p>
            <a:pPr algn="l"/>
            <a:endParaRPr lang="en-US" altLang="zh-CN" sz="5600"/>
          </a:p>
          <a:p>
            <a:pPr algn="l"/>
            <a:r>
              <a:rPr lang="en-US" altLang="zh-CN" sz="5600">
                <a:sym typeface="+mn-ea"/>
              </a:rPr>
              <a:t>D. Visual Consistency and Component Coherence</a:t>
            </a:r>
            <a:endParaRPr lang="en-US" altLang="zh-CN" sz="5600"/>
          </a:p>
          <a:p>
            <a:pPr algn="l"/>
            <a:r>
              <a:rPr lang="en-US" altLang="zh-CN" sz="5600">
                <a:sym typeface="+mn-ea"/>
              </a:rPr>
              <a:t>- consistency of recurring component styles</a:t>
            </a:r>
            <a:endParaRPr lang="en-US" altLang="zh-CN" sz="5600"/>
          </a:p>
          <a:p>
            <a:pPr algn="l"/>
            <a:r>
              <a:rPr lang="en-US" altLang="zh-CN" sz="5600">
                <a:sym typeface="+mn-ea"/>
              </a:rPr>
              <a:t>- consistency of typography</a:t>
            </a:r>
            <a:endParaRPr lang="en-US" altLang="zh-CN" sz="5600"/>
          </a:p>
          <a:p>
            <a:pPr algn="l"/>
            <a:r>
              <a:rPr lang="en-US" altLang="zh-CN" sz="5600">
                <a:sym typeface="+mn-ea"/>
              </a:rPr>
              <a:t>- consistency of color use</a:t>
            </a:r>
            <a:endParaRPr lang="en-US" altLang="zh-CN" sz="5600"/>
          </a:p>
          <a:p>
            <a:pPr algn="l"/>
            <a:r>
              <a:rPr lang="en-US" altLang="zh-CN" sz="5600">
                <a:sym typeface="+mn-ea"/>
              </a:rPr>
              <a:t>- consistency of repeated visual conventions</a:t>
            </a:r>
            <a:endParaRPr lang="en-US" altLang="zh-CN" sz="5600"/>
          </a:p>
          <a:p>
            <a:pPr algn="l"/>
            <a:r>
              <a:rPr lang="en-US" altLang="zh-CN" sz="5600">
                <a:sym typeface="+mn-ea"/>
              </a:rPr>
              <a:t>- whether recurring elements form a coherent visual system</a:t>
            </a:r>
            <a:endParaRPr lang="en-US" altLang="zh-CN" sz="5600"/>
          </a:p>
        </p:txBody>
      </p:sp>
      <p:sp>
        <p:nvSpPr>
          <p:cNvPr id="6" name="标题 5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422275" y="269240"/>
            <a:ext cx="7362825" cy="554990"/>
          </a:xfrm>
        </p:spPr>
        <p:txBody>
          <a:bodyPr>
            <a:normAutofit fontScale="90000"/>
          </a:bodyPr>
          <a:p>
            <a:r>
              <a:rPr lang="en-US" altLang="zh-CN" sz="2220"/>
              <a:t>DIMENSION 3 - VISUAL LANGUAGE QUALITY</a:t>
            </a:r>
            <a:endParaRPr lang="en-US" altLang="zh-CN" sz="2220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22275" y="0"/>
            <a:ext cx="10137140" cy="679450"/>
          </a:xfrm>
        </p:spPr>
        <p:txBody>
          <a:bodyPr>
            <a:normAutofit/>
          </a:bodyPr>
          <a:p>
            <a:pPr algn="l"/>
            <a:r>
              <a:rPr lang="en-US" altLang="zh-CN" sz="2220"/>
              <a:t>DIMENSION 4 - COMPONENT RECOGNIZABILITY </a:t>
            </a:r>
            <a:endParaRPr lang="en-US" altLang="zh-CN" sz="222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467360" y="679450"/>
            <a:ext cx="11257280" cy="5798185"/>
          </a:xfrm>
        </p:spPr>
        <p:txBody>
          <a:bodyPr>
            <a:normAutofit fontScale="25000"/>
          </a:bodyPr>
          <a:p>
            <a:pPr algn="l"/>
            <a:r>
              <a:rPr lang="en-US" altLang="zh-CN" sz="5600"/>
              <a:t>Core question: When the GUI requirement explicitly specifies user actions, how clearly are the</a:t>
            </a:r>
            <a:endParaRPr lang="en-US" altLang="zh-CN" sz="5600"/>
          </a:p>
          <a:p>
            <a:pPr algn="l"/>
            <a:r>
              <a:rPr lang="en-US" altLang="zh-CN" sz="5600"/>
              <a:t>corresponding visible controls represented as recognizable and apparently</a:t>
            </a:r>
            <a:endParaRPr lang="en-US" altLang="zh-CN" sz="5600"/>
          </a:p>
          <a:p>
            <a:pPr algn="l"/>
            <a:r>
              <a:rPr lang="en-US" altLang="zh-CN" sz="5600"/>
              <a:t>actionable interface components?</a:t>
            </a:r>
            <a:endParaRPr lang="en-US" altLang="zh-CN" sz="5600"/>
          </a:p>
          <a:p>
            <a:pPr algn="l"/>
            <a:r>
              <a:rPr lang="en-US" altLang="zh-CN" sz="5600"/>
              <a:t>Consider:</a:t>
            </a:r>
            <a:endParaRPr lang="en-US" altLang="zh-CN" sz="5600"/>
          </a:p>
          <a:p>
            <a:pPr algn="l"/>
            <a:r>
              <a:rPr lang="en-US" altLang="zh-CN" sz="5600"/>
              <a:t>- buttons               - CTAs                - search fields              - input fields     </a:t>
            </a:r>
            <a:r>
              <a:rPr lang="en-US" altLang="zh-CN" sz="5600">
                <a:sym typeface="+mn-ea"/>
              </a:rPr>
              <a:t>- navigation controls </a:t>
            </a:r>
            <a:endParaRPr lang="en-US" altLang="zh-CN" sz="5600"/>
          </a:p>
          <a:p>
            <a:pPr algn="l"/>
            <a:r>
              <a:rPr lang="en-US" altLang="zh-CN" sz="5600"/>
              <a:t>- forms                  - menus              - dropdowns                 - tabs                </a:t>
            </a:r>
            <a:r>
              <a:rPr lang="en-US" altLang="zh-CN" sz="5600">
                <a:sym typeface="+mn-ea"/>
              </a:rPr>
              <a:t>- filters  </a:t>
            </a:r>
            <a:endParaRPr lang="en-US" altLang="zh-CN" sz="5600">
              <a:sym typeface="+mn-ea"/>
            </a:endParaRPr>
          </a:p>
          <a:p>
            <a:pPr algn="l"/>
            <a:r>
              <a:rPr lang="en-US" altLang="zh-CN" sz="5600"/>
              <a:t> selectors              </a:t>
            </a:r>
            <a:r>
              <a:rPr lang="en-US" altLang="zh-CN" sz="5600">
                <a:sym typeface="+mn-ea"/>
              </a:rPr>
              <a:t>- login controls     - apply controls            - download controls</a:t>
            </a:r>
            <a:endParaRPr lang="en-US" altLang="zh-CN" sz="5600"/>
          </a:p>
          <a:p>
            <a:pPr algn="l"/>
            <a:r>
              <a:rPr lang="en-US" altLang="zh-CN" sz="5600"/>
              <a:t>- explore or view controls             - other explicitly requested interaction entry points</a:t>
            </a:r>
            <a:endParaRPr lang="en-US" altLang="zh-CN" sz="5600"/>
          </a:p>
          <a:p>
            <a:pPr algn="l"/>
            <a:r>
              <a:rPr lang="en-US" altLang="zh-CN" sz="5600"/>
              <a:t>Evaluate:</a:t>
            </a:r>
            <a:endParaRPr lang="en-US" altLang="zh-CN" sz="5600"/>
          </a:p>
          <a:p>
            <a:pPr algn="l"/>
            <a:r>
              <a:rPr lang="en-US" altLang="zh-CN" sz="5600"/>
              <a:t>- whether each explicitly requested user action has a visible interaction</a:t>
            </a:r>
            <a:endParaRPr lang="en-US" altLang="zh-CN" sz="5600"/>
          </a:p>
          <a:p>
            <a:pPr algn="l"/>
            <a:r>
              <a:rPr lang="en-US" altLang="zh-CN" sz="5600"/>
              <a:t>  entry point</a:t>
            </a:r>
            <a:endParaRPr lang="en-US" altLang="zh-CN" sz="5600"/>
          </a:p>
          <a:p>
            <a:pPr algn="l"/>
            <a:r>
              <a:rPr lang="en-US" altLang="zh-CN" sz="5600"/>
              <a:t>- whether the visible component is recognizable as an interaction control</a:t>
            </a:r>
            <a:endParaRPr lang="en-US" altLang="zh-CN" sz="5600"/>
          </a:p>
          <a:p>
            <a:pPr algn="l"/>
            <a:r>
              <a:rPr lang="en-US" altLang="zh-CN" sz="5600"/>
              <a:t>- whether the component type is visually appropriate for the requested action</a:t>
            </a:r>
            <a:endParaRPr lang="en-US" altLang="zh-CN" sz="5600"/>
          </a:p>
          <a:p>
            <a:pPr algn="l"/>
            <a:r>
              <a:rPr lang="en-US" altLang="zh-CN" sz="5600"/>
              <a:t>- whether labels correspond clearly to the intended action</a:t>
            </a:r>
            <a:endParaRPr lang="en-US" altLang="zh-CN" sz="5600"/>
          </a:p>
          <a:p>
            <a:pPr algn="l"/>
            <a:r>
              <a:rPr lang="en-US" altLang="zh-CN" sz="5600"/>
              <a:t>- whether controls appear visually actionable</a:t>
            </a:r>
            <a:endParaRPr lang="en-US" altLang="zh-CN" sz="5600"/>
          </a:p>
          <a:p>
            <a:pPr algn="l"/>
            <a:r>
              <a:rPr lang="en-US" altLang="zh-CN" sz="5600"/>
              <a:t>- whether important requested controls are missing</a:t>
            </a:r>
            <a:endParaRPr lang="en-US" altLang="zh-CN" sz="5600"/>
          </a:p>
          <a:p>
            <a:pPr algn="l"/>
            <a:r>
              <a:rPr lang="en-US" altLang="zh-CN" sz="5600"/>
              <a:t>- whether controls are ambiguous, misleading, or difficult to recognize</a:t>
            </a:r>
            <a:endParaRPr lang="en-US" altLang="zh-CN" sz="5600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22275" y="269240"/>
            <a:ext cx="10918190" cy="646430"/>
          </a:xfrm>
        </p:spPr>
        <p:txBody>
          <a:bodyPr>
            <a:normAutofit/>
          </a:bodyPr>
          <a:p>
            <a:pPr algn="l"/>
            <a:r>
              <a:rPr lang="en-US" altLang="zh-CN" sz="2220"/>
              <a:t>DIMENSION 5 - INFORMATION CLARITY </a:t>
            </a:r>
            <a:endParaRPr lang="en-US" altLang="zh-CN" sz="222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698500" y="1059815"/>
            <a:ext cx="10642600" cy="4868545"/>
          </a:xfrm>
        </p:spPr>
        <p:txBody>
          <a:bodyPr>
            <a:normAutofit fontScale="25000"/>
          </a:bodyPr>
          <a:p>
            <a:pPr algn="l"/>
            <a:r>
              <a:rPr lang="en-US" altLang="zh-CN" sz="5600"/>
              <a:t>Core question: At first inspection, how clearly does the visible interface communicate its</a:t>
            </a:r>
            <a:endParaRPr lang="en-US" altLang="zh-CN" sz="5600"/>
          </a:p>
          <a:p>
            <a:pPr algn="l"/>
            <a:r>
              <a:rPr lang="en-US" altLang="zh-CN" sz="5600"/>
              <a:t>page purpose, information meaning, labels, and content relationships without</a:t>
            </a:r>
            <a:endParaRPr lang="en-US" altLang="zh-CN" sz="5600"/>
          </a:p>
          <a:p>
            <a:pPr algn="l"/>
            <a:r>
              <a:rPr lang="en-US" altLang="zh-CN" sz="5600"/>
              <a:t>requiring assumptions about actual interaction or user performance?</a:t>
            </a:r>
            <a:endParaRPr lang="en-US" altLang="zh-CN" sz="5600"/>
          </a:p>
          <a:p>
            <a:pPr algn="l"/>
            <a:r>
              <a:rPr lang="en-US" altLang="zh-CN" sz="5600"/>
              <a:t>Consider:</a:t>
            </a:r>
            <a:endParaRPr lang="en-US" altLang="zh-CN" sz="5600"/>
          </a:p>
          <a:p>
            <a:pPr algn="l"/>
            <a:r>
              <a:rPr lang="en-US" altLang="zh-CN" sz="5600"/>
              <a:t>- clarity of the visible page purpose</a:t>
            </a:r>
            <a:endParaRPr lang="en-US" altLang="zh-CN" sz="5600"/>
          </a:p>
          <a:p>
            <a:pPr algn="l"/>
            <a:r>
              <a:rPr lang="en-US" altLang="zh-CN" sz="5600"/>
              <a:t>- clarity of headings and labels</a:t>
            </a:r>
            <a:endParaRPr lang="en-US" altLang="zh-CN" sz="5600"/>
          </a:p>
          <a:p>
            <a:pPr algn="l"/>
            <a:r>
              <a:rPr lang="en-US" altLang="zh-CN" sz="5600"/>
              <a:t>- clarity of visible interface wording</a:t>
            </a:r>
            <a:endParaRPr lang="en-US" altLang="zh-CN" sz="5600"/>
          </a:p>
          <a:p>
            <a:pPr algn="l"/>
            <a:r>
              <a:rPr lang="en-US" altLang="zh-CN" sz="5600"/>
              <a:t>- whether visible information has sufficient context</a:t>
            </a:r>
            <a:endParaRPr lang="en-US" altLang="zh-CN" sz="5600"/>
          </a:p>
          <a:p>
            <a:pPr algn="l"/>
            <a:r>
              <a:rPr lang="en-US" altLang="zh-CN" sz="5600"/>
              <a:t>- whether content relationships can be understood</a:t>
            </a:r>
            <a:endParaRPr lang="en-US" altLang="zh-CN" sz="5600"/>
          </a:p>
          <a:p>
            <a:pPr algn="l"/>
            <a:r>
              <a:rPr lang="en-US" altLang="zh-CN" sz="5600"/>
              <a:t>- whether terminology and labels are understandable</a:t>
            </a:r>
            <a:endParaRPr lang="en-US" altLang="zh-CN" sz="5600"/>
          </a:p>
          <a:p>
            <a:pPr algn="l"/>
            <a:r>
              <a:rPr lang="en-US" altLang="zh-CN" sz="5600"/>
              <a:t>- whether the meaning of visible information is ambiguous</a:t>
            </a:r>
            <a:endParaRPr lang="en-US" altLang="zh-CN" sz="5600"/>
          </a:p>
          <a:p>
            <a:pPr algn="l"/>
            <a:r>
              <a:rPr lang="en-US" altLang="zh-CN" sz="5600"/>
              <a:t>- whether users can form a reasonable first-impression understanding of the page</a:t>
            </a:r>
            <a:endParaRPr lang="en-US" altLang="zh-CN" sz="5600"/>
          </a:p>
          <a:p>
            <a:pPr algn="l"/>
            <a:r>
              <a:rPr lang="en-US" altLang="zh-CN" sz="5600"/>
              <a:t>- whether visible information can be interpreted without unnecessary confusion</a:t>
            </a:r>
            <a:endParaRPr lang="en-US" altLang="zh-CN" sz="5600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22275" y="177165"/>
            <a:ext cx="3255010" cy="541020"/>
          </a:xfrm>
        </p:spPr>
        <p:txBody>
          <a:bodyPr>
            <a:normAutofit/>
          </a:bodyPr>
          <a:p>
            <a:pPr algn="l"/>
            <a:r>
              <a:rPr lang="en-US" altLang="zh-CN" sz="2220"/>
              <a:t> Manual Evol</a:t>
            </a:r>
            <a:r>
              <a:rPr lang="en-US" altLang="zh-CN" sz="2220"/>
              <a:t>uation</a:t>
            </a:r>
            <a:endParaRPr lang="en-US" altLang="zh-CN" sz="222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18160" y="955675"/>
            <a:ext cx="11155680" cy="5710555"/>
          </a:xfrm>
        </p:spPr>
        <p:txBody>
          <a:bodyPr>
            <a:normAutofit fontScale="25000"/>
          </a:bodyPr>
          <a:p>
            <a:pPr algn="l"/>
            <a:r>
              <a:rPr lang="en-US" altLang="zh-CN" sz="4800"/>
              <a:t>1.Randomly select 15 requirements from the pool of 50. The selection applies to the requirements, not the screenshots.</a:t>
            </a:r>
            <a:endParaRPr lang="en-US" altLang="zh-CN" sz="4800"/>
          </a:p>
          <a:p>
            <a:pPr algn="l"/>
            <a:r>
              <a:rPr lang="en-US" altLang="zh-CN" sz="4800"/>
              <a:t>For each selected requirement, retain all 10 models:</a:t>
            </a:r>
            <a:endParaRPr lang="en-US" altLang="zh-CN" sz="4800"/>
          </a:p>
          <a:p>
            <a:pPr algn="l"/>
            <a:r>
              <a:rPr lang="en-US" altLang="zh-CN" sz="4800"/>
              <a:t>15 × 10 = 150 GUIs</a:t>
            </a:r>
            <a:endParaRPr lang="en-US" altLang="zh-CN" sz="4800"/>
          </a:p>
          <a:p>
            <a:pPr algn="l"/>
            <a:r>
              <a:rPr lang="en-US" altLang="zh-CN" sz="4800"/>
              <a:t>Each GUI is independently rated by 3 different human evaluators:</a:t>
            </a:r>
            <a:endParaRPr lang="en-US" altLang="zh-CN" sz="4800"/>
          </a:p>
          <a:p>
            <a:pPr algn="l"/>
            <a:r>
              <a:rPr lang="en-US" altLang="zh-CN" sz="4800"/>
              <a:t>150 × 3 = 450 ratings</a:t>
            </a:r>
            <a:endParaRPr lang="en-US" altLang="zh-CN" sz="4800"/>
          </a:p>
          <a:p>
            <a:pPr algn="l"/>
            <a:r>
              <a:rPr lang="en-US" altLang="zh-CN" sz="4800"/>
              <a:t>Utilize 10 evaluators:</a:t>
            </a:r>
            <a:endParaRPr lang="en-US" altLang="zh-CN" sz="4800"/>
          </a:p>
          <a:p>
            <a:pPr algn="l"/>
            <a:r>
              <a:rPr lang="en-US" altLang="zh-CN" sz="4800"/>
              <a:t>Therefore:</a:t>
            </a:r>
            <a:endParaRPr lang="en-US" altLang="zh-CN" sz="4800"/>
          </a:p>
          <a:p>
            <a:pPr algn="l"/>
            <a:r>
              <a:rPr lang="en-US" altLang="zh-CN" sz="4800"/>
              <a:t>450 / 10 = 45 GUIs per evaluator</a:t>
            </a:r>
            <a:endParaRPr lang="en-US" altLang="zh-CN" sz="4800"/>
          </a:p>
          <a:p>
            <a:pPr algn="l"/>
            <a:endParaRPr lang="en-US" altLang="zh-CN" sz="4800"/>
          </a:p>
          <a:p>
            <a:pPr algn="l"/>
            <a:r>
              <a:rPr lang="en-US" altLang="zh-CN" sz="4800"/>
              <a:t>2.The balanced assignment must satisfy the following conditions:</a:t>
            </a:r>
            <a:endParaRPr lang="en-US" altLang="zh-CN" sz="4800"/>
          </a:p>
          <a:p>
            <a:pPr algn="l"/>
            <a:r>
              <a:rPr lang="en-US" altLang="zh-CN" sz="4800"/>
              <a:t>- Each GUI is evaluated by exactly 3 different evaluators;</a:t>
            </a:r>
            <a:endParaRPr lang="en-US" altLang="zh-CN" sz="4800"/>
          </a:p>
          <a:p>
            <a:pPr algn="l"/>
            <a:r>
              <a:rPr lang="en-US" altLang="zh-CN" sz="4800"/>
              <a:t>- Each evaluator evaluates exactly 45 GUIs;</a:t>
            </a:r>
            <a:endParaRPr lang="en-US" altLang="zh-CN" sz="4800"/>
          </a:p>
          <a:p>
            <a:pPr algn="l"/>
            <a:r>
              <a:rPr lang="en-US" altLang="zh-CN" sz="4800"/>
              <a:t>- For each requirement, each evaluator evaluates exactly 3 different models;</a:t>
            </a:r>
            <a:endParaRPr lang="en-US" altLang="zh-CN" sz="4800"/>
          </a:p>
          <a:p>
            <a:pPr algn="l"/>
            <a:r>
              <a:rPr lang="en-US" altLang="zh-CN" sz="4800"/>
              <a:t>- No evaluator-GUI pair may be repeated;</a:t>
            </a:r>
            <a:endParaRPr lang="en-US" altLang="zh-CN" sz="4800"/>
          </a:p>
          <a:p>
            <a:pPr algn="l"/>
            <a:r>
              <a:rPr lang="en-US" altLang="zh-CN" sz="4800"/>
              <a:t>- Avoid having a specific evaluator consistently rate the same combination of models;</a:t>
            </a:r>
            <a:endParaRPr lang="en-US" altLang="zh-CN" sz="4800"/>
          </a:p>
          <a:p>
            <a:pPr algn="l"/>
            <a:r>
              <a:rPr lang="en-US" altLang="zh-CN" sz="4800"/>
              <a:t>- Ensure evaluator exposure to different models is as balanced as possible.</a:t>
            </a:r>
            <a:endParaRPr lang="en-US" altLang="zh-CN" sz="4800"/>
          </a:p>
          <a:p>
            <a:pPr algn="l"/>
            <a:endParaRPr lang="en-US" altLang="zh-CN" sz="4800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22275" y="177165"/>
            <a:ext cx="4311015" cy="685165"/>
          </a:xfrm>
        </p:spPr>
        <p:txBody>
          <a:bodyPr>
            <a:normAutofit/>
          </a:bodyPr>
          <a:p>
            <a:pPr algn="l"/>
            <a:r>
              <a:rPr lang="en-US" altLang="zh-CN" sz="2220"/>
              <a:t> Manual Evol</a:t>
            </a:r>
            <a:r>
              <a:rPr lang="en-US" altLang="zh-CN" sz="2220"/>
              <a:t>uation</a:t>
            </a:r>
            <a:endParaRPr lang="en-US" altLang="zh-CN" sz="222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698500" y="862330"/>
            <a:ext cx="11155680" cy="5710555"/>
          </a:xfrm>
        </p:spPr>
        <p:txBody>
          <a:bodyPr>
            <a:normAutofit fontScale="25000"/>
          </a:bodyPr>
          <a:p>
            <a:pPr algn="l"/>
            <a:endParaRPr lang="en-US" altLang="zh-CN" sz="4800"/>
          </a:p>
          <a:p>
            <a:pPr algn="l"/>
            <a:r>
              <a:rPr lang="en-US" altLang="zh-CN" sz="4800"/>
              <a:t>3.THREE SESSIONS</a:t>
            </a:r>
            <a:endParaRPr lang="en-US" altLang="zh-CN" sz="4800"/>
          </a:p>
          <a:p>
            <a:pPr algn="l"/>
            <a:r>
              <a:rPr lang="en-US" altLang="zh-CN" sz="4800"/>
              <a:t>The 45 GUIs assigned to each evaluator are divided as follows:</a:t>
            </a:r>
            <a:endParaRPr lang="en-US" altLang="zh-CN" sz="4800"/>
          </a:p>
          <a:p>
            <a:pPr algn="l"/>
            <a:r>
              <a:rPr lang="en-US" altLang="zh-CN" sz="4800"/>
              <a:t>Session 1 = 15 GUIs</a:t>
            </a:r>
            <a:endParaRPr lang="en-US" altLang="zh-CN" sz="4800"/>
          </a:p>
          <a:p>
            <a:pPr algn="l"/>
            <a:r>
              <a:rPr lang="en-US" altLang="zh-CN" sz="4800"/>
              <a:t>Session 2 = 15 GUIs</a:t>
            </a:r>
            <a:endParaRPr lang="en-US" altLang="zh-CN" sz="4800"/>
          </a:p>
          <a:p>
            <a:pPr algn="l"/>
            <a:r>
              <a:rPr lang="en-US" altLang="zh-CN" sz="4800"/>
              <a:t>Session 3 = 15 GUIs</a:t>
            </a:r>
            <a:endParaRPr lang="en-US" altLang="zh-CN" sz="4800"/>
          </a:p>
          <a:p>
            <a:pPr algn="l"/>
            <a:r>
              <a:rPr lang="en-US" altLang="zh-CN" sz="4800"/>
              <a:t>For any given requirement, the GUIs from the three different models must be distributed across the sessions as follows:</a:t>
            </a:r>
            <a:endParaRPr lang="en-US" altLang="zh-CN" sz="4800"/>
          </a:p>
          <a:p>
            <a:pPr algn="l"/>
            <a:r>
              <a:rPr lang="en-US" altLang="zh-CN" sz="4800"/>
              <a:t>Session 1</a:t>
            </a:r>
            <a:endParaRPr lang="en-US" altLang="zh-CN" sz="4800"/>
          </a:p>
          <a:p>
            <a:pPr algn="l"/>
            <a:r>
              <a:rPr lang="en-US" altLang="zh-CN" sz="4800"/>
              <a:t>Session 2</a:t>
            </a:r>
            <a:endParaRPr lang="en-US" altLang="zh-CN" sz="4800"/>
          </a:p>
          <a:p>
            <a:pPr algn="l"/>
            <a:r>
              <a:rPr lang="en-US" altLang="zh-CN" sz="4800"/>
              <a:t>Session 3</a:t>
            </a:r>
            <a:endParaRPr lang="en-US" altLang="zh-CN" sz="4800"/>
          </a:p>
          <a:p>
            <a:pPr algn="l"/>
            <a:r>
              <a:rPr lang="en-US" altLang="zh-CN" sz="4800"/>
              <a:t>Consequently:</a:t>
            </a:r>
            <a:endParaRPr lang="en-US" altLang="zh-CN" sz="4800"/>
          </a:p>
          <a:p>
            <a:pPr algn="l"/>
            <a:r>
              <a:rPr lang="en-US" altLang="zh-CN" sz="4800"/>
              <a:t>- Each session contains exactly 15 distinct requirements;</a:t>
            </a:r>
            <a:endParaRPr lang="en-US" altLang="zh-CN" sz="4800"/>
          </a:p>
          <a:p>
            <a:pPr algn="l"/>
            <a:r>
              <a:rPr lang="en-US" altLang="zh-CN" sz="4800"/>
              <a:t>- A single requirement appears only once within a given session;</a:t>
            </a:r>
            <a:endParaRPr lang="en-US" altLang="zh-CN" sz="4800"/>
          </a:p>
          <a:p>
            <a:pPr algn="l"/>
            <a:r>
              <a:rPr lang="en-US" altLang="zh-CN" sz="4800"/>
              <a:t>- The order within each session is randomized but determined by a fixed seed.</a:t>
            </a:r>
            <a:endParaRPr lang="en-US" altLang="zh-CN" sz="4800"/>
          </a:p>
          <a:p>
            <a:pPr algn="l"/>
            <a:r>
              <a:rPr lang="en-US" altLang="zh-CN" sz="4800"/>
              <a:t>- You can exit after each session; while you cannot view previous ratings upon logging - back in, you can continue with subsequent sessions.</a:t>
            </a:r>
            <a:endParaRPr lang="en-US" altLang="zh-CN" sz="4800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22275" y="177165"/>
            <a:ext cx="4311015" cy="685165"/>
          </a:xfrm>
        </p:spPr>
        <p:txBody>
          <a:bodyPr>
            <a:normAutofit/>
          </a:bodyPr>
          <a:p>
            <a:pPr algn="l"/>
            <a:r>
              <a:rPr lang="en-US" altLang="zh-CN" sz="2220"/>
              <a:t> Qualitative analysis</a:t>
            </a:r>
            <a:endParaRPr lang="en-US" altLang="zh-CN" sz="2220"/>
          </a:p>
        </p:txBody>
      </p:sp>
      <p:pic>
        <p:nvPicPr>
          <p:cNvPr id="4" name="E657119C-6982-421D-8BA7-E74DEB70A7D9-1" descr="C:/Users/14348/AppData/Local/Temp/wpp.QCjuVlwp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6425" y="-87630"/>
            <a:ext cx="2504440" cy="6850380"/>
          </a:xfrm>
          <a:prstGeom prst="rect">
            <a:avLst/>
          </a:prstGeom>
        </p:spPr>
      </p:pic>
      <p:sp>
        <p:nvSpPr>
          <p:cNvPr id="5" name="副标题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04825" y="1123315"/>
            <a:ext cx="8992235" cy="5181600"/>
          </a:xfrm>
          <a:prstGeom prst="rect">
            <a:avLst/>
          </a:prstGeom>
        </p:spPr>
        <p:txBody>
          <a:bodyPr vert="horz" lIns="90000" tIns="46800" rIns="90000" bIns="46800" rtlCol="0">
            <a:normAutofit fontScale="30000"/>
          </a:bodyPr>
          <a:lstStyle>
            <a:lvl1pPr mar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altLang="zh-CN" sz="5335"/>
          </a:p>
          <a:p>
            <a:pPr algn="l"/>
            <a:r>
              <a:rPr lang="en-US" altLang="zh-CN" sz="5335"/>
              <a:t>Screenshot → Score + Evidence → Error Code → Error Distribution</a:t>
            </a:r>
            <a:endParaRPr lang="en-US" altLang="zh-CN" sz="5335"/>
          </a:p>
          <a:p>
            <a:pPr algn="l"/>
            <a:r>
              <a:rPr lang="en-US" altLang="zh-CN" sz="5335"/>
              <a:t>Perform qualitative coding using only the median evidence generated in Stage 1.</a:t>
            </a:r>
            <a:endParaRPr lang="en-US" altLang="zh-CN" sz="5335"/>
          </a:p>
          <a:p>
            <a:pPr algn="l"/>
            <a:r>
              <a:rPr lang="en-US" altLang="zh-CN" sz="5335"/>
              <a:t>Initial error codes are derived from the evaluation rubric and prior literature.</a:t>
            </a:r>
            <a:endParaRPr lang="en-US" altLang="zh-CN" sz="5335"/>
          </a:p>
          <a:p>
            <a:pPr algn="l"/>
            <a:r>
              <a:rPr lang="en-US" altLang="zh-CN" sz="5335"/>
              <a:t>In this context, "LLM Qualitative Coding" refers to the process of having the LLM transform the previously generated "median-selected evidence" into structured "error categories."</a:t>
            </a:r>
            <a:endParaRPr lang="en-US" altLang="zh-CN" sz="5335"/>
          </a:p>
          <a:p>
            <a:pPr algn="l"/>
            <a:r>
              <a:rPr lang="en-US" altLang="zh-CN" sz="5335"/>
              <a:t>If GPT identifies an error not found in the existing codebook and that error recurs, add it to the official codebook.</a:t>
            </a:r>
            <a:endParaRPr lang="en-US" altLang="zh-CN" sz="5335"/>
          </a:p>
          <a:p>
            <a:pPr algn="l"/>
            <a:r>
              <a:rPr lang="en-US" altLang="zh-CN" sz="5335"/>
              <a:t>Start by selecting approximately 10%–20% of the GUIs for a qualitative pilot.</a:t>
            </a:r>
            <a:endParaRPr lang="en-US" altLang="zh-CN" sz="5335"/>
          </a:p>
          <a:p>
            <a:pPr algn="l"/>
            <a:r>
              <a:rPr lang="en-US" altLang="zh-CN" sz="5335"/>
              <a:t>500 GUIs, you could begin with around 70.</a:t>
            </a:r>
            <a:endParaRPr lang="en-US" altLang="zh-CN" sz="5335"/>
          </a:p>
          <a:p>
            <a:pPr algn="l"/>
            <a:r>
              <a:rPr lang="en-US" altLang="zh-CN" sz="5335"/>
              <a:t>After running the pilot, review the "other" category, consolidate recurring new issues, and create a codebook.</a:t>
            </a:r>
            <a:endParaRPr lang="en-US" altLang="zh-CN" sz="5335"/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657119C-6982-421D-8BA7-E74DEB70A7D9-1">
      <extobjdata type="E657119C-6982-421D-8BA7-E74DEB70A7D9" data="ewoJIkNhdGVnb3J5IiA6ICJmbG93IiwKCSJEZWZpbml0aW9uIiA6ICJKVGRDSlRJeWNHRm5aU1V5TWlVelFTVTNRaVV5TW5CaFpHUnBibWNsTWpJbE0wRXlNQ1V5UXlVeU1tOXlhV1Z1ZEdGMGFXOXVKVEl5SlROQkpUSXljRzl5ZEhKaGFYUWxNaklsTWtNbE1qSmlZV05yWjNKdmRXNWtRMjlzYjNJbE1qSWxNMEVsTWpKMGNtRnVjM0JoY21WdWRDVXlNaVV5UXlVeU1tZHlhV1JUYVhwbEpUSXlKVE5CTVRVbE1rTWxNakozYVdSMGFDVXlNaVV6UVRFd01EQWxNa01sTWpKemFHOTNSM0pwWkNVeU1pVXpRWFJ5ZFdVbE1rTWxNakp5YVdOb1ZHVjRkQ1V5TWlVelFYUnlkV1VsTWtNbE1qSm9aV2xuYUhRbE1qSWxNMEV4TURBd0pUZEVKVEpESlRJeVpXeGxiV1Z1ZEhNbE1qSWxNMEVsTjBJbE1qSnRjMkp4VVhWelVVVmpOakF6TlRRNEpUSXlKVE5CSlRkQ0pUSXlhV1FsTWpJbE0wRWxNakp0YzJKeFVYVnpVVVZqTmpBek5UUTRKVEl5SlRKREpUSXlibUZ0WlNVeU1pVXpRU1V5TW5OMFlYSjBKVEl5SlRKREpUSXlkR2wwYkdVbE1qSWxNMEVsTWpJbFJUVWxRa01sT0RBbFJUVWxRVGNsT0VJbE1rWWxSVGNsUWtJbE9UTWxSVFlsT1VRbE9VWWxNaklsTWtNbE1qSmpZWFJsWjI5eWVTVXlNaVV6UVNVeU1tSmhjMmxqSlRJeUpUSkRKVEl5WjNKdmRYQWxNaklsTTBFbE1qSWxNaklsTWtNbE1qSm5jbTkxY0U1aGJXVWxNaklsTTBGdWRXeHNKVEpESlRJeWJHOWphMlZrSlRJeUpUTkJabUZzYzJVbE1rTWxNakpzYVc1ckpUSXlKVE5CSlRJeUpUSXlKVEpESlRJeVkyaHBiR1J5Wlc0bE1qSWxNMEVsTlVJbE5VUWxNa01sTWpKd1lYSmxiblFsTWpJbE0wRWxNaklsTWpJbE1rTWxNakp5WlhOcGVtVkVhWElsTWpJbE0wRWxOVUlsTWpKMGJDVXlNaVV5UXlVeU1uUnlKVEl5SlRKREpUSXlZbklsTWpJbE1rTWxNakppYkNVeU1pVXlReVV5TW13bE1qSWxNa01sTWpKMEpUSXlKVEpESlRJeWNpVXlNaVV5UXlVeU1tSWxNaklsTlVRbE1rTWxNakpoZEhSeWFXSjFkR1VsTWpJbE0wRWxOMElsTWpKamIyNTBZV2x1WlhJbE1qSWxNMEZtWVd4elpTVXlReVV5TW5acGMybGliR1VsTWpJbE0wRjBjblZsSlRKREpUSXljbTkwWVhSaFlteGxKVEl5SlROQmRISjFaU1V5UXlVeU1teHBibXRoWW14bEpUSXlKVE5CZEhKMVpTVXlReVV5TW1OdmJHeGhjSE5oWW14bEpUSXlKVE5CWm1Gc2MyVWxNa01sTWpKamIyeHNZWEJ6WldRbE1qSWxNMEZtWVd4elpTVXlReVV5TW1acGVHVmtUR2x1YXlVeU1pVXpRV1poYkhObEpUSkRKVEl5YldGeWEyVnlUMlptYzJWMEpUSXlKVE5CTlNVM1JDVXlReVV5TW1SaGRHRkJkSFJ5YVdKMWRHVnpKVEl5SlROQkpUVkNKVGRDSlRJeWJtRnRaU1V5TWlVelFTVXlNaVZGTlNWQ1FTVTRSaVZGTlNVNFJpVkNOeVV5TWlVeVF5VXlNblI1Y0dVbE1qSWxNMEVsTWpKdWRXMWlaWElsTWpJbE1rTWxNakoyWVd4MVpTVXlNaVV6UVNVeU1pVXlNaVV5UXlVeU1tTmhkR1ZuYjNKNUpUSXlKVE5CSlRJeVpHVm1ZWFZzZENVeU1pVXlReVV5TW1sa0pUSXlKVE5CSlRJeVFrSjZTVzVNUkdSUFR6VTFNekF6T0NVeU1pVTNSQ1V5UXlVM1FpVXlNbTVoYldVbE1qSWxNMEVsTWpJbFJUVWxPVEFsT0VRbFJUY2xRVGNsUWpBbE1qSWxNa01sTWpKMGVYQmxKVEl5SlROQkpUSXljM1J5YVc1bkpUSXlKVEpESlRJeWRtRnNkV1VsTWpJbE0wRWxNaklsTWpJbE1rTWxNakpqWVhSbFoyOXllU1V5TWlVelFTVXlNbVJsWm1GMWJIUWxNaklsTWtNbE1qSnBaQ1V5TWlVelFTVXlNbmx4YldWWGRubE1ZbG93T0RFeE1qWWxNaklsTjBRbE1rTWxOMElsTWpKdVlXMWxKVEl5SlROQkpUSXlKVVUySlRnNUpUZ3dKVVUySlRsREpUZzVKVVU0SlRnd0pUZzFKVEl5SlRKREpUSXlkSGx3WlNVeU1pVXpRU1V5TW5OMGNtbHVaeVV5TWlVeVF5VXlNblpoYkhWbEpUSXlKVE5CSlRJeUpUSXlKVEpESlRJeVkyRjBaV2R2Y25rbE1qSWxNMEVsTWpKa1pXWmhkV3gwSlRJeUpUSkRKVEl5YVdRbE1qSWxNMEVsTWpKUmJucG1jR1JXUzFobU9Ua3dOamMxSlRJeUpUZEVKVEpESlRkQ0pUSXlibUZ0WlNVeU1pVXpRU1V5TWlWRk9DVkNSaVU1UlNWRk5pVTRSU1ZCTlNVeU1pVXlReVV5TW5SNWNHVWxNaklsTTBFbE1qSnNhVzVySlRJeUpUSkRKVEl5ZG1Gc2RXVWxNaklsTTBFbE1qSWxNaklsTWtNbE1qSmpZWFJsWjI5eWVTVXlNaVV6UVNVeU1tUmxabUYxYkhRbE1qSWxNa01sTWpKcFpDVXlNaVV6UVNVeU1rTnJZMVZHUlU1c1FWRTFPRFF4TVRJbE1qSWxOMFFsTWtNbE4wSWxNakp1WVcxbEpUSXlKVE5CSlRJeUpVVTBKVUpGSlVKR0pVVTNKVUZESlVKQkpUSXlKVEpESlRJeWRIbHdaU1V5TWlVelFTVXlNbk4wY21sdVp5VXlNaVV5UXlVeU1uWmhiSFZsSlRJeUpUTkJKVEl5SlRJeUpUSkRKVEl5WTJGMFpXZHZjbmtsTWpJbE0wRWxNakprWldaaGRXeDBKVEl5SlRKREpUSXlhV1FsTWpJbE0wRWxNakpFZFZOSFlVcFlSRVJUTmpjMU16WTBKVEl5SlRkRUpUVkVKVEpESlRJeWNISnZjSE1sTWpJbE0wRWxOMElsTWpKNEpUSXlKVE5CTXpJekpUSkRKVEl5ZVNVeU1pVXpRVFU1SlRKREpUSXlkeVV5TWlVelFURXpPU1V5UXlVeU1tZ2xNaklsTTBFeU9TVXlReVV5TW5wcGJtUmxlQ1V5TWlVelFURWxNa01sTWpKaGJtZHNaU1V5TWlVelFUQWxOMFFsTWtNbE1qSnphR0Z3WlZOMGVXeGxKVEl5SlROQkpUZENKVEl5WVd4d2FHRWxNaklsTTBFeEpUZEVKVEpESlRJeWJHbHVaVk4wZVd4bEpUSXlKVE5CSlRkQ0pUSXliR2x1WlZkcFpIUm9KVEl5SlROQk1TNDFKVGRFSlRKREpUSXlabWxzYkZOMGVXeGxKVEl5SlROQkpUZENKVGRFSlRKREpUSXlkR2hsYldVbE1qSWxNMEVsTjBJbE4wUWxNa01sTWpKd1lYUm9KVEl5SlROQkpUVkNKVGRDSlRJeVlXTjBhVzl1Y3lVeU1pVXpRU1UxUWlVM1FpVXlNbUZqZEdsdmJpVXlNaVV6UVNVeU1tMXZkbVVsTWpJbE1rTWxNako0SlRJeUpUTkJKVEl5VFdGMGFDNXRhVzRvZHlVeVEyZ3BKVEpHTXlVeU1pVXlReVV5TW5rbE1qSWxNMEVsTWpJd0pUSXlKVGRFSlRKREpUZENKVEl5WVdOMGFXOXVKVEl5SlROQkpUSXliR2x1WlNVeU1pVXlReVV5TW5nbE1qSWxNMEVsTWpKM0xVMWhkR2d1YldsdUtIY2xNa05vS1NVeVJqTWxNaklsTWtNbE1qSjVKVEl5SlROQkpUSXlNQ1V5TWlVM1JDVXlReVUzUWlVeU1tRmpkR2x2YmlVeU1pVXpRU1V5TW1OMWNuWmxKVEl5SlRKREpUSXllREVsTWpJbE0wRWxNakozSlRKQ1RXRjBhQzV0YVc0b2R5VXlRMmdwSlRKR015VXlSak1sTWpJbE1rTWxNako1TVNVeU1pVXpRU1V5TWpBbE1qSWxNa01sTWpKNE1pVXlNaVV6UVNVeU1uY2xNa0pOWVhSb0xtMXBiaWgzSlRKRGFDa2xNa1l6SlRKR015VXlNaVV5UXlVeU1ua3lKVEl5SlROQkpUSXlhQ1V5TWlVeVF5VXlNbmdsTWpJbE0wRWxNakozTFUxaGRHZ3ViV2x1S0hjbE1rTm9LU1V5UmpNbE1qSWxNa01sTWpKNUpUSXlKVE5CSlRJeWFDVXlNaVUzUkNVeVF5VTNRaVV5TW1GamRHbHZiaVV5TWlVelFTVXlNbXhwYm1VbE1qSWxNa01sTWpKNEpUSXlKVE5CSlRJeVRXRjBhQzV0YVc0b2R5VXlRMmdwSlRKR015VXlNaVV5UXlVeU1ua2xNaklsTTBFbE1qSm9KVEl5SlRkRUpUSkRKVGRDSlRJeVlXTjBhVzl1SlRJeUpUTkJKVEl5WTNWeWRtVWxNaklsTWtNbE1qSjRNU1V5TWlVelFTVXlNaTFOWVhSb0xtMXBiaWgzSlRKRGFDa2xNa1l6SlRKR015VXlNaVV5UXlVeU1ua3hKVEl5SlROQkpUSXlhQ1V5TWlVeVF5VXlNbmd5SlRJeUpUTkJKVEl5TFUxaGRHZ3ViV2x1S0hjbE1rTm9LU1V5UmpNbE1rWXpKVEl5SlRKREpUSXllVElsTWpJbE0wRWxNakl3SlRJeUpUSkRKVEl5ZUNVeU1pVXpRU1V5TWsxaGRHZ3ViV2x1S0hjbE1rTm9LU1V5UmpNbE1qSWxNa01sTWpKNUpUSXlKVE5CSlRJeU1DVXlNaVUzUkNVeVF5VTNRaVV5TW1GamRHbHZiaVV5TWlVelFTVXlNbU5zYjNObEpUSXlKVGRFSlRWRUpUZEVKVFZFSlRKREpUSXlabTl1ZEZOMGVXeGxKVEl5SlROQkpUZENKVGRFSlRKREpUSXlkR1Y0ZEVKc2IyTnJKVEl5SlROQkpUVkNKVGRDSlRJeWNHOXphWFJwYjI0bE1qSWxNMEVsTjBJbE1qSjRKVEl5SlROQk1UQWxNa01sTWpKNUpUSXlKVE5CTUNVeVF5VXlNbmNsTWpJbE0wRWxNakozTFRJd0pUSXlKVEpESlRJeWFDVXlNaVV6UVNVeU1tZ2xNaklsTjBRbE1rTWxNakowWlhoMEpUSXlKVE5CSlRJeVRXVmthV0Z1SlRJd1QzWmxjbUZzYkNVeU1GTmpiM0psSlRJeUpUZEVKVFZFSlRKREpUSXlZVzVqYUc5eWN5VXlNaVV6UVNVMVFpVTNRaVV5TW5nbE1qSWxNMEVsTWpKM0pUSkdNaVV5TWlVeVF5VXlNbmtsTWpJbE0wRWxNakl3SlRJeUpUZEVKVEpESlRkQ0pUSXllQ1V5TWlVelFTVXlNbmNsTWtZeUpUSXlKVEpESlRJeWVTVXlNaVV6UVNVeU1tZ2xNaklsTjBRbE1rTWxOMElsTWpKNEpUSXlKVE5CSlRJeU1DVXlNaVV5UXlVeU1ua2xNaklsTTBFbE1qSm9KVEpHTWlVeU1pVTNSQ1V5UXlVM1FpVXlNbmdsTWpJbE0wRWxNakozSlRJeUpUSkRKVEl5ZVNVeU1pVXpRU1V5TW1nbE1rWXlKVEl5SlRkRUpUVkVKVGRFSlRKREpUSXllRUZoVFU1MFRXbFlhakkxTURZNU5DVXlNaVV6UVNVM1FpVXlNbWxrSlRJeUpUTkJKVEl5ZUVGaFRVNTBUV2xZYWpJMU1EWTVOQ1V5TWlVeVF5VXlNbTVoYldVbE1qSWxNMEVsTWpKeVpXTjBZVzVuYkdVbE1qSWxNa01sTWpKMGFYUnNaU1V5TWlVelFTVXlNaVZGTnlVNVJpVkJPU1ZGTlNWQ1JDVkJNaVV5TWlVeVF5VXlNbU5oZEdWbmIzSjVKVEl5SlROQkpUSXlZbUZ6YVdNbE1qSWxNa01sTWpKbmNtOTFjQ1V5TWlVelFTVXlNaVV5TWlVeVF5VXlNbWR5YjNWd1RtRnRaU1V5TWlVelFXNTFiR3dsTWtNbE1qSnNiMk5yWldRbE1qSWxNMEZtWVd4elpTVXlReVV5TW14cGJtc2xNaklsTTBFbE1qSWxNaklsTWtNbE1qSmphR2xzWkhKbGJpVXlNaVV6UVNVMVFpVTFSQ1V5UXlVeU1uQmhjbVZ1ZENVeU1pVXpRU1V5TWlVeU1pVXlReVV5TW5KbGMybDZaVVJwY2lVeU1pVXpRU1UxUWlVeU1uUnNKVEl5SlRKREpUSXlkSElsTWpJbE1rTWxNakppY2lVeU1pVXlReVV5TW1Kc0pUSXlKVEpESlRJeWJDVXlNaVV5UXlVeU1uUWxNaklsTWtNbE1qSnlKVEl5SlRKREpUSXlZaVV5TWlVMVJDVXlReVV5TW1GMGRISnBZblYwWlNVeU1pVXpRU1UzUWlVeU1tTnZiblJoYVc1bGNpVXlNaVV6UVdaaGJITmxKVEpESlRJeWRtbHphV0pzWlNVeU1pVXpRWFJ5ZFdVbE1rTWxNakp5YjNSaGRHRmliR1VsTWpJbE0wRjBjblZsSlRKREpUSXliR2x1YTJGaWJHVWxNaklsTTBGMGNuVmxKVEpESlRJeVkyOXNiR0Z3YzJGaWJHVWxNaklsTTBGbVlXeHpaU1V5UXlVeU1tTnZiR3hoY0hObFpDVXlNaVV6UVdaaGJITmxKVEpESlRJeVptbDRaV1JNYVc1ckpUSXlKVE5CWm1Gc2MyVWxNa01sTWpKdFlYSnJaWEpQWm1aelpYUWxNaklsTTBFMUpUZEVKVEpESlRJeVpHRjBZVUYwZEhKcFluVjBaWE1sTWpJbE0wRWxOVUlsTjBJbE1qSnVZVzFsSlRJeUpUTkJKVEl5SlVVMUpVSkJKVGhHSlVVMUpUaEdKVUkzSlRJeUpUSkRKVEl5ZEhsd1pTVXlNaVV6UVNVeU1tNTFiV0psY2lVeU1pVXlReVV5TW5aaGJIVmxKVEl5SlROQkpUSXlKVEl5SlRKREpUSXlZMkYwWldkdmNua2xNaklsTTBFbE1qSmtaV1poZFd4MEpUSXlKVEpESlRJeWFXUWxNaklsTTBFbE1qSkRTMkZUU21GdlFuaFZPREl3T0RJekpUSXlKVGRFSlRKREpUZENKVEl5Ym1GdFpTVXlNaVV6UVNVeU1pVkZOU1U1TUNVNFJDVkZOeVZCTnlWQ01DVXlNaVV5UXlVeU1uUjVjR1VsTWpJbE0wRWxNakp6ZEhKcGJtY2xNaklsTWtNbE1qSjJZV3gxWlNVeU1pVXpRU1V5TWlVeU1pVXlReVV5TW1OaGRHVm5iM0o1SlRJeUpUTkJKVEl5WkdWbVlYVnNkQ1V5TWlVeVF5VXlNbWxrSlRJeUpUTkJKVEl5YTNkalEyaFpiM05rVmpjM01qVXdNeVV5TWlVM1JDVXlReVUzUWlVeU1tNWhiV1VsTWpJbE0wRWxNaklsUlRZbE9Ea2xPREFsUlRZbE9VTWxPRGtsUlRnbE9EQWxPRFVsTWpJbE1rTWxNakowZVhCbEpUSXlKVE5CSlRJeWMzUnlhVzVuSlRJeUpUSkRKVEl5ZG1Gc2RXVWxNaklsTTBFbE1qSWxNaklsTWtNbE1qSmpZWFJsWjI5eWVTVXlNaVV6UVNVeU1tUmxabUYxYkhRbE1qSWxNa01sTWpKcFpDVXlNaVV6UVNVeU1rMXhWRzFYUTJGR2FsZzFNalF5T1RrbE1qSWxOMFFsTWtNbE4wSWxNakp1WVcxbEpUSXlKVE5CSlRJeUpVVTRKVUpHSlRsRkpVVTJKVGhGSlVFMUpUSXlKVEpESlRJeWRIbHdaU1V5TWlVelFTVXlNbXhwYm1zbE1qSWxNa01sTWpKMllXeDFaU1V5TWlVelFTVXlNaVV5TWlVeVF5VXlNbU5oZEdWbmIzSjVKVEl5SlROQkpUSXlaR1ZtWVhWc2RDVXlNaVV5UXlVeU1tbGtKVEl5SlROQkpUSXljVTFUVEZGTFYyTlhkekUwTURnNE1TVXlNaVUzUkNVeVF5VTNRaVV5TW01aGJXVWxNaklsTTBFbE1qSWxSVFFsUWtVbFFrWWxSVGNsUVVNbFFrRWxNaklsTWtNbE1qSjBlWEJsSlRJeUpUTkJKVEl5YzNSeWFXNW5KVEl5SlRKREpUSXlkbUZzZFdVbE1qSWxNMEVsTWpJbE1qSWxNa01sTWpKallYUmxaMjl5ZVNVeU1pVXpRU1V5TW1SbFptRjFiSFFsTWpJbE1rTWxNakpwWkNVeU1pVXpRU1V5TW5kVGNYUlphMDVvV0dRMk16QXpOelFsTWpJbE4wUWxOVVFsTWtNbE1qSndjbTl3Y3lVeU1pVXpRU1UzUWlVeU1uZ2xNaklsTTBFek16VXVOelVsTWtNbE1qSjVKVEl5SlROQk1USXpKVEpESlRJeWR5VXlNaVV6UVRFeE15NDFKVEpESlRJeWFDVXlNaVV6UVRNd0pUSkRKVEl5ZW1sdVpHVjRKVEl5SlROQk1pVXlReVV5TW1GdVoyeGxKVEl5SlROQk1DVTNSQ1V5UXlVeU1uTm9ZWEJsVTNSNWJHVWxNaklsTTBFbE4wSWxNakpoYkhCb1lTVXlNaVV6UVRFbE4wUWxNa01sTWpKc2FXNWxVM1I1YkdVbE1qSWxNMEVsTjBJbE1qSnNhVzVsVjJsa2RHZ2xNaklsTTBFeExqVWxOMFFsTWtNbE1qSm1hV3hzVTNSNWJHVWxNaklsTTBFbE4wSWxOMFFsTWtNbE1qSjBhR1Z0WlNVeU1pVXpRU1UzUWlVM1JDVXlReVV5TW5CaGRHZ2xNaklsTTBFbE5VSWxOMElsTWpKaFkzUnBiMjV6SlRJeUpUTkJKVFZDSlRkQ0pUSXlZV04wYVc5dUpUSXlKVE5CSlRJeWJXOTJaU1V5TWlVeVF5VXlNbmdsTWpJbE0wRWxNakl3SlRJeUpUSkRKVEl5ZVNVeU1pVXpRU1V5TWpBbE1qSWxOMFFsTWtNbE4wSWxNakpoWTNScGIyNGxNaklsTTBFbE1qSnNhVzVsSlRJeUpUSkRKVEl5ZUNVeU1pVXpRU1V5TW5jbE1qSWxNa01sTWpKNUpUSXlKVE5CSlRJeU1DVXlNaVUzUkNVeVF5VTNRaVV5TW1GamRHbHZiaVV5TWlVelFTVXlNbXhwYm1VbE1qSWxNa01sTWpKNEpUSXlKVE5CSlRJeWR5VXlNaVV5UXlVeU1ua2xNaklsTTBFbE1qSm9KVEl5SlRkRUpUSkRKVGRDSlRJeVlXTjBhVzl1SlRJeUpUTkJKVEl5YkdsdVpTVXlNaVV5UXlVeU1uZ2xNaklsTTBFbE1qSXdKVEl5SlRKREpUSXllU1V5TWlVelFTVXlNbWdsTWpJbE4wUWxNa01sTjBJbE1qSmhZM1JwYjI0bE1qSWxNMEVsTWpKamJHOXpaU1V5TWlVM1JDVTFSQ1UzUkNVMVJDVXlReVV5TW1admJuUlRkSGxzWlNVeU1pVXpRU1UzUWlVM1JDVXlReVV5TW5SbGVIUkNiRzlqYXlVeU1pVXpRU1UxUWlVM1FpVXlNbkJ2YzJsMGFXOXVKVEl5SlROQkpUZENKVEl5ZUNVeU1pVXpRVEV3SlRKREpUSXllU1V5TWlVelFUQWxNa01sTWpKM0pUSXlKVE5CSlRJeWR5MHlNQ1V5TWlVeVF5VXlNbWdsTWpJbE0wRWxNakpvSlRJeUpUZEVKVEpESlRJeWRHVjRkQ1V5TWlVelFTVXlNbEpsY0hKbGMyVnVkR0YwYVhabEpUSXdVblZ1SlRJeUpUZEVKVFZFSlRKREpUSXlZVzVqYUc5eWN5VXlNaVV6UVNVMVFpVTNRaVV5TW5nbE1qSWxNMEVsTWpKM0pUSkdNaVV5TWlVeVF5VXlNbmtsTWpJbE0wRWxNakl3SlRJeUpUZEVKVEpESlRkQ0pUSXllQ1V5TWlVelFTVXlNbmNsTWtZeUpUSXlKVEpESlRJeWVTVXlNaVV6UVNVeU1tZ2xNaklsTjBRbE1rTWxOMElsTWpKNEpUSXlKVE5CSlRJeU1DVXlNaVV5UXlVeU1ua2xNaklsTTBFbE1qSm9KVEpHTWlVeU1pVTNSQ1V5UXlVM1FpVXlNbmdsTWpJbE0wRWxNakozSlRJeUpUSkRKVEl5ZVNVeU1pVXpRU1V5TW1nbE1rWXlKVEl5SlRkRUpUVkVKVGRFSlRKREpUSXlVa2xOZFdsdWMzbDNaakl5T0RVNE1TVXlNaVV6UVNVM1FpVXlNbWxrSlRJeUpUTkJKVEl5VWtsTmRXbHVjM2wzWmpJeU9EVTRNU1V5TWlVeVF5VXlNbTVoYldVbE1qSWxNMEVsTWpKeVpXTjBZVzVuYkdVbE1qSWxNa01sTWpKMGFYUnNaU1V5TWlVelFTVXlNaVZGTnlVNVJpVkJPU1ZGTlNWQ1JDVkJNaVV5TWlVeVF5VXlNbU5oZEdWbmIzSjVKVEl5SlROQkpUSXlZbUZ6YVdNbE1qSWxNa01sTWpKbmNtOTFjQ1V5TWlVelFTVXlNaVV5TWlVeVF5VXlNbWR5YjNWd1RtRnRaU1V5TWlVelFXNTFiR3dsTWtNbE1qSnNiMk5yWldRbE1qSWxNMEZtWVd4elpTVXlReVV5TW14cGJtc2xNaklsTTBFbE1qSWxNaklsTWtNbE1qSmphR2xzWkhKbGJpVXlNaVV6UVNVMVFpVTFSQ1V5UXlVeU1uQmhjbVZ1ZENVeU1pVXpRU1V5TWlVeU1pVXlReVV5TW5KbGMybDZaVVJwY2lVeU1pVXpRU1UxUWlVeU1uUnNKVEl5SlRKREpUSXlkSElsTWpJbE1rTWxNakppY2lVeU1pVXlReVV5TW1Kc0pUSXlKVEpESlRJeWJDVXlNaVV5UXlVeU1uUWxNaklsTWtNbE1qSnlKVEl5SlRKREpUSXlZaVV5TWlVMVJDVXlReVV5TW1GMGRISnBZblYwWlNVeU1pVXpRU1UzUWlVeU1tTnZiblJoYVc1bGNpVXlNaVV6UVdaaGJITmxKVEpESlRJeWRtbHphV0pzWlNVeU1pVXpRWFJ5ZFdVbE1rTWxNakp5YjNSaGRHRmliR1VsTWpJbE0wRjBjblZsSlRKREpUSXliR2x1YTJGaWJHVWxNaklsTTBGMGNuVmxKVEpESlRJeVkyOXNiR0Z3YzJGaWJHVWxNaklsTTBGbVlXeHpaU1V5UXlVeU1tTnZiR3hoY0hObFpDVXlNaVV6UVdaaGJITmxKVEpESlRJeVptbDRaV1JNYVc1ckpUSXlKVE5CWm1Gc2MyVWxNa01sTWpKdFlYSnJaWEpQWm1aelpYUWxNaklsTTBFMUpUZEVKVEpESlRJeVpHRjBZVUYwZEhKcFluVjBaWE1sTWpJbE0wRWxOVUlsTjBJbE1qSnVZVzFsSlRJeUpUTkJKVEl5SlVVMUpVSkJKVGhHSlVVMUpUaEdKVUkzSlRJeUpUSkRKVEl5ZEhsd1pTVXlNaVV6UVNVeU1tNTFiV0psY2lVeU1pVXlReVV5TW5aaGJIVmxKVEl5SlROQkpUSXlKVEl5SlRKREpUSXlZMkYwWldkdmNua2xNaklsTTBFbE1qSmtaV1poZFd4MEpUSXlKVEpESlRJeWFXUWxNaklsTTBFbE1qSlZVV1pJUTNOMFZtTmhOamMzTmpRekpUSXlKVGRFSlRKREpUZENKVEl5Ym1GdFpTVXlNaVV6UVNVeU1pVkZOU1U1TUNVNFJDVkZOeVZCTnlWQ01DVXlNaVV5UXlVeU1uUjVjR1VsTWpJbE0wRWxNakp6ZEhKcGJtY2xNaklsTWtNbE1qSjJZV3gxWlNVeU1pVXpRU1V5TWlVeU1pVXlReVV5TW1OaGRHVm5iM0o1SlRJeUpUTkJKVEl5WkdWbVlYVnNkQ1V5TWlVeVF5VXlNbWxrSlRJeUpUTkJKVEl5ZVVOMmRrVmxSMUJEWmpVeU16RXhOU1V5TWlVM1JDVXlReVUzUWlVeU1tNWhiV1VsTWpJbE0wRWxNaklsUlRZbE9Ea2xPREFsUlRZbE9VTWxPRGtsUlRnbE9EQWxPRFVsTWpJbE1rTWxNakowZVhCbEpUSXlKVE5CSlRJeWMzUnlhVzVuSlRJeUpUSkRKVEl5ZG1Gc2RXVWxNaklsTTBFbE1qSWxNaklsTWtNbE1qSmpZWFJsWjI5eWVTVXlNaVV6UVNVeU1tUmxabUYxYkhRbE1qSWxNa01sTWpKcFpDVXlNaVV6UVNVeU1rTk5TV1YxVlVKcVZsUTJORGswTURrbE1qSWxOMFFsTWtNbE4wSWxNakp1WVcxbEpUSXlKVE5CSlRJeUpVVTRKVUpHSlRsRkpVVTJKVGhGSlVFMUpUSXlKVEpESlRJeWRIbHdaU1V5TWlVelFTVXlNbXhwYm1zbE1qSWxNa01sTWpKMllXeDFaU1V5TWlVelFTVXlNaVV5TWlVeVF5VXlNbU5oZEdWbmIzSjVKVEl5SlROQkpUSXlaR1ZtWVhWc2RDVXlNaVV5UXlVeU1tbGtKVEl5SlROQkpUSXliRWxGZUU5SVdWcHlkRFUzTXpjeU5pVXlNaVUzUkNVeVF5VTNRaVV5TW01aGJXVWxNaklsTTBFbE1qSWxSVFFsUWtVbFFrWWxSVGNsUVVNbFFrRWxNaklsTWtNbE1qSjBlWEJsSlRJeUpUTkJKVEl5YzNSeWFXNW5KVEl5SlRKREpUSXlkbUZzZFdVbE1qSWxNMEVsTWpJbE1qSWxNa01sTWpKallYUmxaMjl5ZVNVeU1pVXpRU1V5TW1SbFptRjFiSFFsTWpJbE1rTWxNakpwWkNVeU1pVXpRU1V5TW5SSVJrVjVXVVZ5WjNvM01EQTJORFlsTWpJbE4wUWxOVVFsTWtNbE1qSndjbTl3Y3lVeU1pVXpRU1UzUWlVeU1uZ2xNaklsTTBFek1qSXVORE0zTlNVeVF5VXlNbmtsTWpJbE0wRXhPRGdsTWtNbE1qSjNKVEl5SlROQk1UUXdMakV5TlNVeVF5VXlNbWdsTWpJbE0wRXpPQ1V5UXlVeU1ucHBibVJsZUNVeU1pVXpRVE1sTWtNbE1qSmhibWRzWlNVeU1pVXpRVEFsTjBRbE1rTWxNakp6YUdGd1pWTjBlV3hsSlRJeUpUTkJKVGRDSlRJeVlXeHdhR0VsTWpJbE0wRXhKVGRFSlRKREpUSXliR2x1WlZOMGVXeGxKVEl5SlROQkpUZENKVEl5YkdsdVpWZHBaSFJvSlRJeUpUTkJNUzQxSlRkRUpUSkRKVEl5Wm1sc2JGTjBlV3hsSlRJeUpUTkJKVGRDSlRkRUpUSkRKVEl5ZEdobGJXVWxNaklsTTBFbE4wSWxOMFFsTWtNbE1qSndZWFJvSlRJeUpUTkJKVFZDSlRkQ0pUSXlZV04wYVc5dWN5VXlNaVV6UVNVMVFpVTNRaVV5TW1GamRHbHZiaVV5TWlVelFTVXlNbTF2ZG1VbE1qSWxNa01sTWpKNEpUSXlKVE5CSlRJeU1DVXlNaVV5UXlVeU1ua2xNaklsTTBFbE1qSXdKVEl5SlRkRUpUSkRKVGRDSlRJeVlXTjBhVzl1SlRJeUpUTkJKVEl5YkdsdVpTVXlNaVV5UXlVeU1uZ2xNaklsTTBFbE1qSjNKVEl5SlRKREpUSXllU1V5TWlVelFTVXlNakFsTWpJbE4wUWxNa01sTjBJbE1qSmhZM1JwYjI0bE1qSWxNMEVsTWpKc2FXNWxKVEl5SlRKREpUSXllQ1V5TWlVelFTVXlNbmNsTWpJbE1rTWxNako1SlRJeUpUTkJKVEl5YUNVeU1pVTNSQ1V5UXlVM1FpVXlNbUZqZEdsdmJpVXlNaVV6UVNVeU1teHBibVVsTWpJbE1rTWxNako0SlRJeUpUTkJKVEl5TUNVeU1pVXlReVV5TW5rbE1qSWxNMEVsTWpKb0pUSXlKVGRFSlRKREpUZENKVEl5WVdOMGFXOXVKVEl5SlROQkpUSXlZMnh2YzJVbE1qSWxOMFFsTlVRbE4wUWxOVVFsTWtNbE1qSm1iMjUwVTNSNWJHVWxNaklsTTBFbE4wSWxOMFFsTWtNbE1qSjBaWGgwUW14dlkyc2xNaklsTTBFbE5VSWxOMElsTWpKd2IzTnBkR2x2YmlVeU1pVXpRU1UzUWlVeU1uZ2xNaklsTTBFeE1DVXlReVV5TW5rbE1qSWxNMEV3SlRKREpUSXlkeVV5TWlVelFTVXlNbmN0TWpBbE1qSWxNa01sTWpKb0pUSXlKVE5CSlRJeWFDVXlNaVUzUkNVeVF5VXlNblJsZUhRbE1qSWxNMEVsTWpKTlpXUnBZVzRsTWpCRmRtbGtaVzVqWlNVeU1pVTNSQ1UxUkNVeVF5VXlNbUZ1WTJodmNuTWxNaklsTTBFbE5VSWxOMElsTWpKNEpUSXlKVE5CSlRJeWR5VXlSaklsTWpJbE1rTWxNako1SlRJeUpUTkJKVEl5TUNVeU1pVTNSQ1V5UXlVM1FpVXlNbmdsTWpJbE0wRWxNakozSlRKR01pVXlNaVV5UXlVeU1ua2xNaklsTTBFbE1qSm9KVEl5SlRkRUpUSkRKVGRDSlRJeWVDVXlNaVV6UVNVeU1qQWxNaklsTWtNbE1qSjVKVEl5SlROQkpUSXlhQ1V5UmpJbE1qSWxOMFFsTWtNbE4wSWxNako0SlRJeUpUTkJKVEl5ZHlVeU1pVXlReVV5TW5rbE1qSWxNMEVsTWpKb0pUSkdNaVV5TWlVM1JDVTFSQ1UzUkNVeVF5VXlNbWxRYkZaQ1FuUnNTMkV4TXpjd05qZ2xNaklsTTBFbE4wSWxNakpwWkNVeU1pVXpRU1V5TW1sUWJGWkNRblJzUzJFeE16Y3dOamdsTWpJbE1rTWxNakp1WVcxbEpUSXlKVE5CSlRJeWNtVmpkR0Z1WjJ4bEpUSXlKVEpESlRJeWRHbDBiR1VsTWpJbE0wRWxNaklsUlRjbE9VWWxRVGtsUlRVbFFrUWxRVElsTWpJbE1rTWxNakpqWVhSbFoyOXllU1V5TWlVelFTVXlNbUpoYzJsakpUSXlKVEpESlRJeVozSnZkWEFsTWpJbE0wRWxNaklsTWpJbE1rTWxNakpuY205MWNFNWhiV1VsTWpJbE0wRnVkV3hzSlRKREpUSXliRzlqYTJWa0pUSXlKVE5CWm1Gc2MyVWxNa01sTWpKc2FXNXJKVEl5SlROQkpUSXlKVEl5SlRKREpUSXlZMmhwYkdSeVpXNGxNaklsTTBFbE5VSWxOVVFsTWtNbE1qSndZWEpsYm5RbE1qSWxNMEVsTWpJbE1qSWxNa01sTWpKeVpYTnBlbVZFYVhJbE1qSWxNMEVsTlVJbE1qSjBiQ1V5TWlVeVF5VXlNblJ5SlRJeUpUSkRKVEl5WW5JbE1qSWxNa01sTWpKaWJDVXlNaVV5UXlVeU1td2xNaklsTWtNbE1qSjBKVEl5SlRKREpUSXljaVV5TWlVeVF5VXlNbUlsTWpJbE5VUWxNa01sTWpKaGRIUnlhV0oxZEdVbE1qSWxNMEVsTjBJbE1qSmpiMjUwWVdsdVpYSWxNaklsTTBGbVlXeHpaU1V5UXlVeU1uWnBjMmxpYkdVbE1qSWxNMEYwY25WbEpUSkRKVEl5Y205MFlYUmhZbXhsSlRJeUpUTkJkSEoxWlNVeVF5VXlNbXhwYm10aFlteGxKVEl5SlROQmRISjFaU1V5UXlVeU1tTnZiR3hoY0hOaFlteGxKVEl5SlROQlptRnNjMlVsTWtNbE1qSmpiMnhzWVhCelpXUWxNaklsTTBGbVlXeHpaU1V5UXlVeU1tWnBlR1ZrVEdsdWF5VXlNaVV6UVdaaGJITmxKVEpESlRJeWJXRnlhMlZ5VDJabWMyVjBKVEl5SlROQk5TVTNSQ1V5UXlVeU1tUmhkR0ZCZEhSeWFXSjFkR1Z6SlRJeUpUTkJKVFZDSlRkQ0pUSXlibUZ0WlNVeU1pVXpRU1V5TWlWRk5TVkNRU1U0UmlWRk5TVTRSaVZDTnlVeU1pVXlReVV5TW5SNWNHVWxNaklsTTBFbE1qSnVkVzFpWlhJbE1qSWxNa01sTWpKMllXeDFaU1V5TWlVelFTVXlNaVV5TWlVeVF5VXlNbU5oZEdWbmIzSjVKVEl5SlROQkpUSXlaR1ZtWVhWc2RDVXlNaVV5UXlVeU1tbGtKVEl5SlROQkpUSXlZV2x6ZDJSdlUyeHZXRE0wT1RNNE5TVXlNaVUzUkNVeVF5VTNRaVV5TW01aGJXVWxNaklsTTBFbE1qSWxSVFVsT1RBbE9FUWxSVGNsUVRjbFFqQWxNaklsTWtNbE1qSjBlWEJsSlRJeUpUTkJKVEl5YzNSeWFXNW5KVEl5SlRKREpUSXlkbUZzZFdVbE1qSWxNMEVsTWpJbE1qSWxNa01sTWpKallYUmxaMjl5ZVNVeU1pVXpRU1V5TW1SbFptRjFiSFFsTWpJbE1rTWxNakpwWkNVeU1pVXpRU1V5TWtacVVuaHRiMlZPVDA4d09ETXlOalVsTWpJbE4wUWxNa01sTjBJbE1qSnVZVzFsSlRJeUpUTkJKVEl5SlVVMkpUZzVKVGd3SlVVMkpUbERKVGc1SlVVNEpUZ3dKVGcxSlRJeUpUSkRKVEl5ZEhsd1pTVXlNaVV6UVNVeU1uTjBjbWx1WnlVeU1pVXlReVV5TW5aaGJIVmxKVEl5SlROQkpUSXlKVEl5SlRKREpUSXlZMkYwWldkdmNua2xNaklsTTBFbE1qSmtaV1poZFd4MEpUSXlKVEpESlRJeWFXUWxNaklsTTBFbE1qSkhaR3RCVlVaMGEzaG1Oemc1TVRjMEpUSXlKVGRFSlRKREpUZENKVEl5Ym1GdFpTVXlNaVV6UVNVeU1pVkZPQ1ZDUmlVNVJTVkZOaVU0UlNWQk5TVXlNaVV5UXlVeU1uUjVjR1VsTWpJbE0wRWxNakpzYVc1ckpUSXlKVEpESlRJeWRtRnNkV1VsTWpJbE0wRWxNaklsTWpJbE1rTWxNakpqWVhSbFoyOXllU1V5TWlVelFTVXlNbVJsWm1GMWJIUWxNaklsTWtNbE1qSnBaQ1V5TWlVelFTVXlNbVZ5Ymt4RWRuTjJja1UyTkRVd01UY2xNaklsTjBRbE1rTWxOMElsTWpKdVlXMWxKVEl5SlROQkpUSXlKVVUwSlVKRkpVSkdKVVUzSlVGREpVSkJKVEl5SlRKREpUSXlkSGx3WlNVeU1pVXpRU1V5TW5OMGNtbHVaeVV5TWlVeVF5VXlNblpoYkhWbEpUSXlKVE5CSlRJeUpUSXlKVEpESlRJeVkyRjBaV2R2Y25rbE1qSWxNMEVsTWpKa1pXWmhkV3gwSlRJeUpUSkRKVEl5YVdRbE1qSWxNMEVsTWpKVWNrWnVjbU42WVU5TU5EWTRNamc1SlRJeUpUZEVKVFZFSlRKREpUSXljSEp2Y0hNbE1qSWxNMEVsTjBJbE1qSjRKVEl5SlROQk16SXhKVEpESlRJeWVTVXlNaVV6UVRJMU5DVXlReVV5TW5jbE1qSWxNMEV4TkRNbE1rTWxNakpvSlRJeUpUTkJNemtsTWtNbE1qSjZhVzVrWlhnbE1qSWxNMEUwSlRKREpUSXlZVzVuYkdVbE1qSWxNMEV3SlRkRUpUSkRKVEl5YzJoaGNHVlRkSGxzWlNVeU1pVXpRU1UzUWlVeU1tRnNjR2hoSlRJeUpUTkJNU1UzUkNVeVF5VXlNbXhwYm1WVGRIbHNaU1V5TWlVelFTVTNRaVV5TW14cGJtVlhhV1IwYUNVeU1pVXpRVEV1TlNVM1JDVXlReVV5TW1acGJHeFRkSGxzWlNVeU1pVXpRU1UzUWlVM1JDVXlReVV5TW5Sb1pXMWxKVEl5SlROQkpUZENKVGRFSlRKREpUSXljR0YwYUNVeU1pVXpRU1UxUWlVM1FpVXlNbUZqZEdsdmJuTWxNaklsTTBFbE5VSWxOMElsTWpKaFkzUnBiMjRsTWpJbE0wRWxNakp0YjNabEpUSXlKVEpESlRJeWVDVXlNaVV6UVNVeU1qQWxNaklsTWtNbE1qSjVKVEl5SlROQkpUSXlNQ1V5TWlVM1JDVXlReVUzUWlVeU1tRmpkR2x2YmlVeU1pVXpRU1V5TW14cGJtVWxNaklsTWtNbE1qSjRKVEl5SlROQkpUSXlkeVV5TWlVeVF5VXlNbmtsTWpJbE0wRWxNakl3SlRJeUpUZEVKVEpESlRkQ0pUSXlZV04wYVc5dUpUSXlKVE5CSlRJeWJHbHVaU1V5TWlVeVF5VXlNbmdsTWpJbE0wRWxNakozSlRJeUpUSkRKVEl5ZVNVeU1pVXpRU1V5TW1nbE1qSWxOMFFsTWtNbE4wSWxNakpoWTNScGIyNGxNaklsTTBFbE1qSnNhVzVsSlRJeUpUSkRKVEl5ZUNVeU1pVXpRU1V5TWpBbE1qSWxNa01sTWpKNUpUSXlKVE5CSlRJeWFDVXlNaVUzUkNVeVF5VTNRaVV5TW1GamRHbHZiaVV5TWlVelFTVXlNbU5zYjNObEpUSXlKVGRFSlRWRUpUZEVKVFZFSlRKREpUSXlabTl1ZEZOMGVXeGxKVEl5SlROQkpUZENKVGRFSlRKREpUSXlkR1Y0ZEVKc2IyTnJKVEl5SlROQkpUVkNKVGRDSlRJeWNHOXphWFJwYjI0bE1qSWxNMEVsTjBJbE1qSjRKVEl5SlROQk1UQWxNa01sTWpKNUpUSXlKVE5CTUNVeVF5VXlNbmNsTWpJbE0wRWxNakozTFRJd0pUSXlKVEpESlRJeWFDVXlNaVV6UVNVeU1tZ2xNaklsTjBRbE1rTWxNakowWlhoMEpUSXlKVE5CSlRJeVNXNXBkR2xoYkNVeU1FTnZaR1ZpYjI5ckpUTkRaR2wySlRORkpUSTJibUp6Y0NVelFsSjFZbkpwWXlVeU1DVXlRaVV5TUV4cGRHVnlZWFIxY21VbE0wTWxNa1prYVhZbE0wVWxNaklsTjBRbE5VUWxNa01sTWpKaGJtTm9iM0p6SlRJeUpUTkJKVFZDSlRkQ0pUSXllQ1V5TWlVelFTVXlNbmNsTWtZeUpUSXlKVEpESlRJeWVTVXlNaVV6UVNVeU1qQWxNaklsTjBRbE1rTWxOMElsTWpKNEpUSXlKVE5CSlRJeWR5VXlSaklsTWpJbE1rTWxNako1SlRJeUpUTkJKVEl5YUNVeU1pVTNSQ1V5UXlVM1FpVXlNbmdsTWpJbE0wRWxNakl3SlRJeUpUSkRKVEl5ZVNVeU1pVXpRU1V5TW1nbE1rWXlKVEl5SlRkRUpUSkRKVGRDSlRJeWVDVXlNaVV6UVNVeU1uY2xNaklsTWtNbE1qSjVKVEl5SlROQkpUSXlhQ1V5UmpJbE1qSWxOMFFsTlVRbE4wUWxNa01sTWpKUWFraE1SMmRMV0hSUk1EY3hOemt5SlRJeUpUTkJKVGRDSlRJeWFXUWxNaklsTTBFbE1qSlFha2hNUjJkTFdIUlJNRGN4TnpreUpUSXlKVEpESlRJeWJtRnRaU1V5TWlVelFTVXlNbkpsWTNSaGJtZHNaU1V5TWlVeVF5VXlNblJwZEd4bEpUSXlKVE5CSlRJeUpVVTNKVGxHSlVFNUpVVTFKVUpFSlVFeUpUSXlKVEpESlRJeVkyRjBaV2R2Y25rbE1qSWxNMEVsTWpKaVlYTnBZeVV5TWlVeVF5VXlNbWR5YjNWd0pUSXlKVE5CSlRJeUpUSXlKVEpESlRJeVozSnZkWEJPWVcxbEpUSXlKVE5CYm5Wc2JDVXlReVV5TW14dlkydGxaQ1V5TWlVelFXWmhiSE5sSlRKREpUSXliR2x1YXlVeU1pVXpRU1V5TWlVeU1pVXlReVV5TW1Ob2FXeGtjbVZ1SlRJeUpUTkJKVFZDSlRWRUpUSkRKVEl5Y0dGeVpXNTBKVEl5SlROQkpUSXlKVEl5SlRKREpUSXljbVZ6YVhwbFJHbHlKVEl5SlROQkpUVkNKVEl5ZEd3bE1qSWxNa01sTWpKMGNpVXlNaVV5UXlVeU1tSnlKVEl5SlRKREpUSXlZbXdsTWpJbE1rTWxNakpzSlRJeUpUSkRKVEl5ZENVeU1pVXlReVV5TW5JbE1qSWxNa01sTWpKaUpUSXlKVFZFSlRKREpUSXlZWFIwY21saWRYUmxKVEl5SlROQkpUZENKVEl5WTI5dWRHRnBibVZ5SlRJeUpUTkJabUZzYzJVbE1rTWxNakoyYVhOcFlteGxKVEl5SlROQmRISjFaU1V5UXlVeU1uSnZkR0YwWVdKc1pTVXlNaVV6UVhSeWRXVWxNa01sTWpKc2FXNXJZV0pzWlNVeU1pVXpRWFJ5ZFdVbE1rTWxNakpqYjJ4c1lYQnpZV0pzWlNVeU1pVXpRV1poYkhObEpUSkRKVEl5WTI5c2JHRndjMlZrSlRJeUpUTkJabUZzYzJVbE1rTWxNakptYVhobFpFeHBibXNsTWpJbE0wRm1ZV3h6WlNVeVF5VXlNbTFoY210bGNrOW1abk5sZENVeU1pVXpRVFVsTjBRbE1rTWxNakprWVhSaFFYUjBjbWxpZFhSbGN5VXlNaVV6UVNVMVFpVTNRaVV5TW01aGJXVWxNaklsTTBFbE1qSWxSVFVsUWtFbE9FWWxSVFVsT0VZbFFqY2xNaklsTWtNbE1qSjBlWEJsSlRJeUpUTkJKVEl5Ym5WdFltVnlKVEl5SlRKREpUSXlkbUZzZFdVbE1qSWxNMEVsTWpJbE1qSWxNa01sTWpKallYUmxaMjl5ZVNVeU1pVXpRU1V5TW1SbFptRjFiSFFsTWpJbE1rTWxNakpwWkNVeU1pVXpRU1V5TW1waFYwTjVVVzFrUjFJNE1EazFORE1sTWpJbE4wUWxNa01sTjBJbE1qSnVZVzFsSlRJeUpUTkJKVEl5SlVVMUpUa3dKVGhFSlVVM0pVRTNKVUl3SlRJeUpUSkRKVEl5ZEhsd1pTVXlNaVV6UVNVeU1uTjBjbWx1WnlVeU1pVXlReVV5TW5aaGJIVmxKVEl5SlROQkpUSXlKVEl5SlRKREpUSXlZMkYwWldkdmNua2xNaklsTTBFbE1qSmtaV1poZFd4MEpUSXlKVEpESlRJeWFXUWxNaklsTTBFbE1qSk9RbXRRUlZoYVFWbG9NVEUzTnpVeEpUSXlKVGRFSlRKREpUZENKVEl5Ym1GdFpTVXlNaVV6UVNVeU1pVkZOaVU0T1NVNE1DVkZOaVU1UXlVNE9TVkZPQ1U0TUNVNE5TVXlNaVV5UXlVeU1uUjVjR1VsTWpJbE0wRWxNakp6ZEhKcGJtY2xNaklsTWtNbE1qSjJZV3gxWlNVeU1pVXpRU1V5TWlVeU1pVXlReVV5TW1OaGRHVm5iM0o1SlRJeUpUTkJKVEl5WkdWbVlYVnNkQ1V5TWlVeVF5VXlNbWxrSlRJeUpUTkJKVEl5ZW5GQmRtNUVXV2hTUVRVeE9UQXdNeVV5TWlVM1JDVXlReVUzUWlVeU1tNWhiV1VsTWpJbE0wRWxNaklsUlRnbFFrWWxPVVVsUlRZbE9FVWxRVFVsTWpJbE1rTWxNakowZVhCbEpUSXlKVE5CSlRJeWJHbHVheVV5TWlVeVF5VXlNblpoYkhWbEpUSXlKVE5CSlRJeUpUSXlKVEpESlRJeVkyRjBaV2R2Y25rbE1qSWxNMEVsTWpKa1pXWmhkV3gwSlRJeUpUSkRKVEl5YVdRbE1qSWxNMEVsTWpKRGVXcENlazlKYm1odk9EWXpNVFU0SlRJeUpUZEVKVEpESlRkQ0pUSXlibUZ0WlNVeU1pVXpRU1V5TWlWRk5DVkNSU1ZDUmlWRk55VkJReVZDUVNVeU1pVXlReVV5TW5SNWNHVWxNaklsTTBFbE1qSnpkSEpwYm1jbE1qSWxNa01sTWpKMllXeDFaU1V5TWlVelFTVXlNaVV5TWlVeVF5VXlNbU5oZEdWbmIzSjVKVEl5SlROQkpUSXlaR1ZtWVhWc2RDVXlNaVV5UXlVeU1tbGtKVEl5SlROQkpUSXlURVJ0YW1WUFpYQmhWVFV4TVRVMk5TVXlNaVUzUkNVMVJDVXlReVV5TW5CeWIzQnpKVEl5SlROQkpUZENKVEl5ZUNVeU1pVXpRVE16TWk0M05TVXlReVV5TW5rbE1qSWxNMEV6TWpnbE1rTWxNakozSlRJeUpUTkJNVEU1TGpVbE1rTWxNakpvSlRJeUpUTkJNelFsTWtNbE1qSjZhVzVrWlhnbE1qSWxNMEUxSlRKREpUSXlZVzVuYkdVbE1qSWxNMEV3SlRkRUpUSkRKVEl5YzJoaGNHVlRkSGxzWlNVeU1pVXpRU1UzUWlVeU1tRnNjR2hoSlRJeUpUTkJNU1UzUkNVeVF5VXlNbXhwYm1WVGRIbHNaU1V5TWlVelFTVTNRaVV5TW14cGJtVlhhV1IwYUNVeU1pVXpRVEV1TlNVM1JDVXlReVV5TW1acGJHeFRkSGxzWlNVeU1pVXpRU1UzUWlVM1JDVXlReVV5TW5Sb1pXMWxKVEl5SlROQkpUZENKVGRFSlRKREpUSXljR0YwYUNVeU1pVXpRU1UxUWlVM1FpVXlNbUZqZEdsdmJuTWxNaklsTTBFbE5VSWxOMElsTWpKaFkzUnBiMjRsTWpJbE0wRWxNakp0YjNabEpUSXlKVEpESlRJeWVDVXlNaVV6UVNVeU1qQWxNaklsTWtNbE1qSjVKVEl5SlROQkpUSXlNQ1V5TWlVM1JDVXlReVUzUWlVeU1tRmpkR2x2YmlVeU1pVXpRU1V5TW14cGJtVWxNaklsTWtNbE1qSjRKVEl5SlROQkpUSXlkeVV5TWlVeVF5VXlNbmtsTWpJbE0wRWxNakl3SlRJeUpUZEVKVEpESlRkQ0pUSXlZV04wYVc5dUpUSXlKVE5CSlRJeWJHbHVaU1V5TWlVeVF5VXlNbmdsTWpJbE0wRWxNakozSlRJeUpUSkRKVEl5ZVNVeU1pVXpRU1V5TW1nbE1qSWxOMFFsTWtNbE4wSWxNakpoWTNScGIyNGxNaklsTTBFbE1qSnNhVzVsSlRJeUpUSkRKVEl5ZUNVeU1pVXpRU1V5TWpBbE1qSWxNa01sTWpKNUpUSXlKVE5CSlRJeWFDVXlNaVUzUkNVeVF5VTNRaVV5TW1GamRHbHZiaVV5TWlVelFTVXlNbU5zYjNObEpUSXlKVGRFSlRWRUpUZEVKVFZFSlRKREpUSXlabTl1ZEZOMGVXeGxKVEl5SlROQkpUZENKVGRFSlRKREpUSXlkR1Y0ZEVKc2IyTnJKVEl5SlROQkpUVkNKVGRDSlRJeWNHOXphWFJwYjI0bE1qSWxNMEVsTjBJbE1qSjRKVEl5SlROQk1UQWxNa01sTWpKNUpUSXlKVE5CTUNVeVF5VXlNbmNsTWpJbE0wRWxNakozTFRJd0pUSXlKVEpESlRJeWFDVXlNaVV6UVNVeU1tZ2xNaklsTjBRbE1rTWxNakowWlhoMEpUSXlKVE5CSlRJeVRFeE5KVEl3VVhWaGJHbDBZWFJwZG1VbE1qQkRiMlJwYm1jbE1qSWxOMFFsTlVRbE1rTWxNakpoYm1Ob2IzSnpKVEl5SlROQkpUVkNKVGRDSlRJeWVDVXlNaVV6UVNVeU1uY2xNa1l5SlRJeUpUSkRKVEl5ZVNVeU1pVXpRU1V5TWpBbE1qSWxOMFFsTWtNbE4wSWxNako0SlRJeUpUTkJKVEl5ZHlVeVJqSWxNaklsTWtNbE1qSjVKVEl5SlROQkpUSXlhQ1V5TWlVM1JDVXlReVUzUWlVeU1uZ2xNaklsTTBFbE1qSXdKVEl5SlRKREpUSXllU1V5TWlVelFTVXlNbWdsTWtZeUpUSXlKVGRFSlRKREpUZENKVEl5ZUNVeU1pVXpRU1V5TW5jbE1qSWxNa01sTWpKNUpUSXlKVE5CSlRJeWFDVXlSaklsTWpJbE4wUWxOVVFsTjBRbE1rTWxNakp1VDJwVFZWbDViSFJ4TXpFMk5EWTNKVEl5SlROQkpUZENKVEl5YVdRbE1qSWxNMEVsTWpKdVQycFRWVmw1YkhSeE16RTJORFkzSlRJeUpUSkRKVEl5Ym1GdFpTVXlNaVV6UVNVeU1uSmxZM1JoYm1kc1pTVXlNaVV5UXlVeU1uUnBkR3hsSlRJeUpUTkJKVEl5SlVVM0pUbEdKVUU1SlVVMUpVSkVKVUV5SlRJeUpUSkRKVEl5WTJGMFpXZHZjbmtsTWpJbE0wRWxNakppWVhOcFl5VXlNaVV5UXlVeU1tZHliM1Z3SlRJeUpUTkJKVEl5SlRJeUpUSkRKVEl5WjNKdmRYQk9ZVzFsSlRJeUpUTkJiblZzYkNVeVF5VXlNbXh2WTJ0bFpDVXlNaVV6UVdaaGJITmxKVEpESlRJeWJHbHVheVV5TWlVelFTVXlNaVV5TWlVeVF5VXlNbU5vYVd4a2NtVnVKVEl5SlROQkpUVkNKVFZFSlRKREpUSXljR0Z5Wlc1MEpUSXlKVE5CSlRJeUpUSXlKVEpESlRJeWNtVnphWHBsUkdseUpUSXlKVE5CSlRWQ0pUSXlkR3dsTWpJbE1rTWxNakowY2lVeU1pVXlReVV5TW1KeUpUSXlKVEpESlRJeVltd2xNaklsTWtNbE1qSnNKVEl5SlRKREpUSXlkQ1V5TWlVeVF5VXlNbklsTWpJbE1rTWxNakppSlRJeUpUVkVKVEpESlRJeVlYUjBjbWxpZFhSbEpUSXlKVE5CSlRkQ0pUSXlZMjl1ZEdGcGJtVnlKVEl5SlROQlptRnNjMlVsTWtNbE1qSjJhWE5wWW14bEpUSXlKVE5CZEhKMVpTVXlReVV5TW5KdmRHRjBZV0pzWlNVeU1pVXpRWFJ5ZFdVbE1rTWxNakpzYVc1cllXSnNaU1V5TWlVelFYUnlkV1VsTWtNbE1qSmpiMnhzWVhCellXSnNaU1V5TWlVelFXWmhiSE5sSlRKREpUSXlZMjlzYkdGd2MyVmtKVEl5SlROQlptRnNjMlVsTWtNbE1qSm1hWGhsWkV4cGJtc2xNaklsTTBGbVlXeHpaU1V5UXlVeU1tMWhjbXRsY2s5bVpuTmxkQ1V5TWlVelFUVWxOMFFsTWtNbE1qSmtZWFJoUVhSMGNtbGlkWFJsY3lVeU1pVXpRU1UxUWlVM1FpVXlNbTVoYldVbE1qSWxNMEVsTWpJbFJUVWxRa0VsT0VZbFJUVWxPRVlsUWpjbE1qSWxNa01sTWpKMGVYQmxKVEl5SlROQkpUSXliblZ0WW1WeUpUSXlKVEpESlRJeWRtRnNkV1VsTWpJbE0wRWxNaklsTWpJbE1rTWxNakpqWVhSbFoyOXllU1V5TWlVelFTVXlNbVJsWm1GMWJIUWxNaklsTWtNbE1qSnBaQ1V5TWlVelFTVXlNbWx0UjBsWVkxaFRkMW8zTlRjMU5UVWxNaklsTjBRbE1rTWxOMElsTWpKdVlXMWxKVEl5SlROQkpUSXlKVVUxSlRrd0pUaEVKVVUzSlVFM0pVSXdKVEl5SlRKREpUSXlkSGx3WlNVeU1pVXpRU1V5TW5OMGNtbHVaeVV5TWlVeVF5VXlNblpoYkhWbEpUSXlKVE5CSlRJeUpUSXlKVEpESlRJeVkyRjBaV2R2Y25rbE1qSWxNMEVsTWpKa1pXWmhkV3gwSlRJeUpUSkRKVEl5YVdRbE1qSWxNMEVsTWpKM2FVdHhRMFZsU2tkYU1UTTNOamMySlRJeUpUZEVKVEpESlRkQ0pUSXlibUZ0WlNVeU1pVXpRU1V5TWlWRk5pVTRPU1U0TUNWRk5pVTVReVU0T1NWRk9DVTRNQ1U0TlNVeU1pVXlReVV5TW5SNWNHVWxNaklsTTBFbE1qSnpkSEpwYm1jbE1qSWxNa01sTWpKMllXeDFaU1V5TWlVelFTVXlNaVV5TWlVeVF5VXlNbU5oZEdWbmIzSjVKVEl5SlROQkpUSXlaR1ZtWVhWc2RDVXlNaVV5UXlVeU1tbGtKVEl5SlROQkpUSXlaVlZMWVVsNVIzTm1iakF4TkRrNE1TVXlNaVUzUkNVeVF5VTNRaVV5TW01aGJXVWxNaklsTTBFbE1qSWxSVGdsUWtZbE9VVWxSVFlsT0VVbFFUVWxNaklsTWtNbE1qSjBlWEJsSlRJeUpUTkJKVEl5YkdsdWF5VXlNaVV5UXlVeU1uWmhiSFZsSlRJeUpUTkJKVEl5SlRJeUpUSkRKVEl5WTJGMFpXZHZjbmtsTWpJbE0wRWxNakprWldaaGRXeDBKVEl5SlRKREpUSXlhV1FsTWpJbE0wRWxNakp3UWxkSmNtdE1VbWxyTVRjM05ERTBKVEl5SlRkRUpUSkRKVGRDSlRJeWJtRnRaU1V5TWlVelFTVXlNaVZGTkNWQ1JTVkNSaVZGTnlWQlF5VkNRU1V5TWlVeVF5VXlNblI1Y0dVbE1qSWxNMEVsTWpKemRISnBibWNsTWpJbE1rTWxNakoyWVd4MVpTVXlNaVV6UVNVeU1pVXlNaVV5UXlVeU1tTmhkR1ZuYjNKNUpUSXlKVE5CSlRJeVpHVm1ZWFZzZENVeU1pVXlReVV5TW1sa0pUSXlKVE5CSlRJeVIyaE1ibFpXWVZSVWVUa3hOalV5TUNVeU1pVTNSQ1UxUkNVeVF5VXlNbkJ5YjNCekpUSXlKVE5CSlRkQ0pUSXllQ1V5TWlVelFUTXhOUzR6TnpVbE1rTWxNako1SlRJeUpUTkJNemszSlRKREpUSXlkeVV5TWlVelFURTFOQzR5TlNVeVF5VXlNbWdsTWpJbE0wRXpOU1V5UXlVeU1ucHBibVJsZUNVeU1pVXpRVFlsTWtNbE1qSmhibWRzWlNVeU1pVXpRVEFsTjBRbE1rTWxNakp6YUdGd1pWTjBlV3hsSlRJeUpUTkJKVGRDSlRJeVlXeHdhR0VsTWpJbE0wRXhKVGRFSlRKREpUSXliR2x1WlZOMGVXeGxKVEl5SlROQkpUZENKVEl5YkdsdVpWZHBaSFJvSlRJeUpUTkJNUzQxSlRkRUpUSkRKVEl5Wm1sc2JGTjBlV3hsSlRJeUpUTkJKVGRDSlRkRUpUSkRKVEl5ZEdobGJXVWxNaklsTTBFbE4wSWxOMFFsTWtNbE1qSndZWFJvSlRJeUpUTkJKVFZDSlRkQ0pUSXlZV04wYVc5dWN5VXlNaVV6UVNVMVFpVTNRaVV5TW1GamRHbHZiaVV5TWlVelFTVXlNbTF2ZG1VbE1qSWxNa01sTWpKNEpUSXlKVE5CSlRJeU1DVXlNaVV5UXlVeU1ua2xNaklsTTBFbE1qSXdKVEl5SlRkRUpUSkRKVGRDSlRJeVlXTjBhVzl1SlRJeUpUTkJKVEl5YkdsdVpTVXlNaVV5UXlVeU1uZ2xNaklsTTBFbE1qSjNKVEl5SlRKREpUSXllU1V5TWlVelFTVXlNakFsTWpJbE4wUWxNa01sTjBJbE1qSmhZM1JwYjI0bE1qSWxNMEVsTWpKc2FXNWxKVEl5SlRKREpUSXllQ1V5TWlVelFTVXlNbmNsTWpJbE1rTWxNako1SlRJeUpUTkJKVEl5YUNVeU1pVTNSQ1V5UXlVM1FpVXlNbUZqZEdsdmJpVXlNaVV6UVNVeU1teHBibVVsTWpJbE1rTWxNako0SlRJeUpUTkJKVEl5TUNVeU1pVXlReVV5TW5rbE1qSWxNMEVsTWpKb0pUSXlKVGRFSlRKREpUZENKVEl5WVdOMGFXOXVKVEl5SlROQkpUSXlZMnh2YzJVbE1qSWxOMFFsTlVRbE4wUWxOVVFsTWtNbE1qSm1iMjUwVTNSNWJHVWxNaklsTTBFbE4wSWxNakowWlhoMFFXeHBaMjRsTWpJbE0wRWxNakpqWlc1MFpYSWxNaklsTWtNbE1qSjJRV3hwWjI0bE1qSWxNMEVsTWpKdGFXUmtiR1VsTWpJbE4wUWxNa01sTWpKMFpYaDBRbXh2WTJzbE1qSWxNMEVsTlVJbE4wSWxNakp3YjNOcGRHbHZiaVV5TWlVelFTVTNRaVV5TW5nbE1qSWxNMEV4TUNVeVF5VXlNbmtsTWpJbE0wRXdKVEpESlRJeWR5VXlNaVV6UVNVeU1uY3RNakFsTWpJbE1rTWxNakpvSlRJeUpUTkJKVEl5YUNVeU1pVTNSQ1V5UXlVeU1uUmxlSFFsTWpJbE0wRWxNakpGZUdsemRHbHVaeVV5TUVOdlpHVnpKVEpDVDFSSVJWSWxNakJKYzNOMVpYTWxNaklsTjBRbE5VUWxNa01sTWpKaGJtTm9iM0p6SlRJeUpUTkJKVFZDSlRkQ0pUSXllQ1V5TWlVelFTVXlNbmNsTWtZeUpUSXlKVEpESlRJeWVTVXlNaVV6UVNVeU1qQWxNaklsTjBRbE1rTWxOMElsTWpKNEpUSXlKVE5CSlRJeWR5VXlSaklsTWpJbE1rTWxNako1SlRJeUpUTkJKVEl5YUNVeU1pVTNSQ1V5UXlVM1FpVXlNbmdsTWpJbE0wRWxNakl3SlRJeUpUSkRKVEl5ZVNVeU1pVXpRU1V5TW1nbE1rWXlKVEl5SlRkRUpUSkRKVGRDSlRJeWVDVXlNaVV6UVNVeU1uY2xNaklsTWtNbE1qSjVKVEl5SlROQkpUSXlhQ1V5UmpJbE1qSWxOMFFsTlVRbE4wUWxNa01sTWpKRVNXNVdaVlpoUTJObE5EVTNNVEF4SlRJeUpUTkJKVGRDSlRJeWFXUWxNaklsTTBFbE1qSkVTVzVXWlZaaFEyTmxORFUzTVRBeEpUSXlKVEpESlRJeWJtRnRaU1V5TWlVelFTVXlNbkpsWTNSaGJtZHNaU1V5TWlVeVF5VXlNblJwZEd4bEpUSXlKVE5CSlRJeUpVVTNKVGxHSlVFNUpVVTFKVUpFSlVFeUpUSXlKVEpESlRJeVkyRjBaV2R2Y25rbE1qSWxNMEVsTWpKaVlYTnBZeVV5TWlVeVF5VXlNbWR5YjNWd0pUSXlKVE5CSlRJeUpUSXlKVEpESlRJeVozSnZkWEJPWVcxbEpUSXlKVE5CYm5Wc2JDVXlReVV5TW14dlkydGxaQ1V5TWlVelFXWmhiSE5sSlRKREpUSXliR2x1YXlVeU1pVXpRU1V5TWlVeU1pVXlReVV5TW1Ob2FXeGtjbVZ1SlRJeUpUTkJKVFZDSlRWRUpUSkRKVEl5Y0dGeVpXNTBKVEl5SlROQkpUSXlKVEl5SlRKREpUSXljbVZ6YVhwbFJHbHlKVEl5SlROQkpUVkNKVEl5ZEd3bE1qSWxNa01sTWpKMGNpVXlNaVV5UXlVeU1tSnlKVEl5SlRKREpUSXlZbXdsTWpJbE1rTWxNakpzSlRJeUpUSkRKVEl5ZENVeU1pVXlReVV5TW5JbE1qSWxNa01sTWpKaUpUSXlKVFZFSlRKREpUSXlZWFIwY21saWRYUmxKVEl5SlROQkpUZENKVEl5WTI5dWRHRnBibVZ5SlRJeUpUTkJabUZzYzJVbE1rTWxNakoyYVhOcFlteGxKVEl5SlROQmRISjFaU1V5UXlVeU1uSnZkR0YwWVdKc1pTVXlNaVV6UVhSeWRXVWxNa01sTWpKc2FXNXJZV0pzWlNVeU1pVXpRWFJ5ZFdVbE1rTWxNakpqYjJ4c1lYQnpZV0pzWlNVeU1pVXpRV1poYkhObEpUSkRKVEl5WTI5c2JHRndjMlZrSlRJeUpUTkJabUZzYzJVbE1rTWxNakptYVhobFpFeHBibXNsTWpJbE0wRm1ZV3h6WlNVeVF5VXlNbTFoY210bGNrOW1abk5sZENVeU1pVXpRVFVsTjBRbE1rTWxNakprWVhSaFFYUjBjbWxpZFhSbGN5VXlNaVV6UVNVMVFpVTNRaVV5TW01aGJXVWxNaklsTTBFbE1qSWxSVFVsUWtFbE9FWWxSVFVsT0VZbFFqY2xNaklsTWtNbE1qSjBlWEJsSlRJeUpUTkJKVEl5Ym5WdFltVnlKVEl5SlRKREpUSXlkbUZzZFdVbE1qSWxNMEVsTWpJbE1qSWxNa01sTWpKallYUmxaMjl5ZVNVeU1pVXpRU1V5TW1SbFptRjFiSFFsTWpJbE1rTWxNakpwWkNVeU1pVXpRU1V5TWtkM1RWbHhjbWxzWldZME1UVTNOeklsTWpJbE4wUWxNa01sTjBJbE1qSnVZVzFsSlRJeUpUTkJKVEl5SlVVMUpUa3dKVGhFSlVVM0pVRTNKVUl3SlRJeUpUSkRKVEl5ZEhsd1pTVXlNaVV6UVNVeU1uTjBjbWx1WnlVeU1pVXlReVV5TW5aaGJIVmxKVEl5SlROQkpUSXlKVEl5SlRKREpUSXlZMkYwWldkdmNua2xNaklsTTBFbE1qSmtaV1poZFd4MEpUSXlKVEpESlRJeWFXUWxNaklsTTBFbE1qSmpZVmh5U0hCemIzRkJNemMyTkRBd0pUSXlKVGRFSlRKREpUZENKVEl5Ym1GdFpTVXlNaVV6UVNVeU1pVkZOaVU0T1NVNE1DVkZOaVU1UXlVNE9TVkZPQ1U0TUNVNE5TVXlNaVV5UXlVeU1uUjVjR1VsTWpJbE0wRWxNakp6ZEhKcGJtY2xNaklsTWtNbE1qSjJZV3gxWlNVeU1pVXpRU1V5TWlVeU1pVXlReVV5TW1OaGRHVm5iM0o1SlRJeUpUTkJKVEl5WkdWbVlYVnNkQ1V5TWlVeVF5VXlNbWxrSlRJeUpUTkJKVEl5Y2toMldrbHBha1JrVERVek9UQTROQ1V5TWlVM1JDVXlReVUzUWlVeU1tNWhiV1VsTWpJbE0wRWxNaklsUlRnbFFrWWxPVVVsUlRZbE9FVWxRVFVsTWpJbE1rTWxNakowZVhCbEpUSXlKVE5CSlRJeWJHbHVheVV5TWlVeVF5VXlNblpoYkhWbEpUSXlKVE5CSlRJeUpUSXlKVEpESlRJeVkyRjBaV2R2Y25rbE1qSWxNMEVsTWpKa1pXWmhkV3gwSlRJeUpUSkRKVEl5YVdRbE1qSWxNMEVsTWpKaFdtaERhMVZxYUV4TU1ERTNNRFV6SlRJeUpUZEVKVEpESlRkQ0pUSXlibUZ0WlNVeU1pVXpRU1V5TWlWRk5DVkNSU1ZDUmlWRk55VkJReVZDUVNVeU1pVXlReVV5TW5SNWNHVWxNaklsTTBFbE1qSnpkSEpwYm1jbE1qSWxNa01sTWpKMllXeDFaU1V5TWlVelFTVXlNaVV5TWlVeVF5VXlNbU5oZEdWbmIzSjVKVEl5SlROQkpUSXlaR1ZtWVhWc2RDVXlNaVV5UXlVeU1tbGtKVEl5SlROQkpUSXlZMGxqY1U5RFFXRkRUREV6T0RVek9TVXlNaVUzUkNVMVJDVXlReVV5TW5CeWIzQnpKVEl5SlROQkpUZENKVEl5ZUNVeU1pVXpRVE16TWk0M05TVXlReVV5TW5rbE1qSWxNMEUwTmpjbE1rTWxNakozSlRJeUpUTkJNVEU1TGpVbE1rTWxNakpvSlRJeUpUTkJNeklsTWtNbE1qSjZhVzVrWlhnbE1qSWxNMEUzSlRKREpUSXlZVzVuYkdVbE1qSWxNMEV3SlRkRUpUSkRKVEl5YzJoaGNHVlRkSGxzWlNVeU1pVXpRU1UzUWlVeU1tRnNjR2hoSlRJeUpUTkJNU1UzUkNVeVF5VXlNbXhwYm1WVGRIbHNaU1V5TWlVelFTVTNRaVV5TW14cGJtVlhhV1IwYUNVeU1pVXpRVEV1TlNVM1JDVXlReVV5TW1acGJHeFRkSGxzWlNVeU1pVXpRU1UzUWlVM1JDVXlReVV5TW5Sb1pXMWxKVEl5SlROQkpUZENKVGRFSlRKREpUSXljR0YwYUNVeU1pVXpRU1UxUWlVM1FpVXlNbUZqZEdsdmJuTWxNaklsTTBFbE5VSWxOMElsTWpKaFkzUnBiMjRsTWpJbE0wRWxNakp0YjNabEpUSXlKVEpESlRJeWVDVXlNaVV6UVNVeU1qQWxNaklsTWtNbE1qSjVKVEl5SlROQkpUSXlNQ1V5TWlVM1JDVXlReVUzUWlVeU1tRmpkR2x2YmlVeU1pVXpRU1V5TW14cGJtVWxNaklsTWtNbE1qSjRKVEl5SlROQkpUSXlkeVV5TWlVeVF5VXlNbmtsTWpJbE0wRWxNakl3SlRJeUpUZEVKVEpESlRkQ0pUSXlZV04wYVc5dUpUSXlKVE5CSlRJeWJHbHVaU1V5TWlVeVF5VXlNbmdsTWpJbE0wRWxNakozSlRJeUpUSkRKVEl5ZVNVeU1pVXpRU1V5TW1nbE1qSWxOMFFsTWtNbE4wSWxNakpoWTNScGIyNGxNaklsTTBFbE1qSnNhVzVsSlRJeUpUSkRKVEl5ZUNVeU1pVXpRU1V5TWpBbE1qSWxNa01sTWpKNUpUSXlKVE5CSlRJeWFDVXlNaVUzUkNVeVF5VTNRaVV5TW1GamRHbHZiaVV5TWlVelFTVXlNbU5zYjNObEpUSXlKVGRFSlRWRUpUZEVKVFZFSlRKREpUSXlabTl1ZEZOMGVXeGxKVEl5SlROQkpUZENKVGRFSlRKREpUSXlkR1Y0ZEVKc2IyTnJKVEl5SlROQkpUVkNKVGRDSlRJeWNHOXphWFJwYjI0bE1qSWxNMEVsTjBJbE1qSjRKVEl5SlROQk1UQWxNa01sTWpKNUpUSXlKVE5CTUNVeVF5VXlNbmNsTWpJbE0wRWxNakozTFRJd0pUSXlKVEpESlRJeWFDVXlNaVV6UVNVeU1tZ2xNaklsTjBRbE1rTWxNakowWlhoMEpUSXlKVE5CSlRJeVNIVnRZVzRsTWpCU1pYWnBaWGNsTWpJbE4wUWxOVVFsTWtNbE1qSmhibU5vYjNKekpUSXlKVE5CSlRWQ0pUZENKVEl5ZUNVeU1pVXpRU1V5TW5jbE1rWXlKVEl5SlRKREpUSXllU1V5TWlVelFTVXlNakFsTWpJbE4wUWxNa01sTjBJbE1qSjRKVEl5SlROQkpUSXlkeVV5UmpJbE1qSWxNa01sTWpKNUpUSXlKVE5CSlRJeWFDVXlNaVUzUkNVeVF5VTNRaVV5TW5nbE1qSWxNMEVsTWpJd0pUSXlKVEpESlRJeWVTVXlNaVV6UVNVeU1tZ2xNa1l5SlRJeUpUZEVKVEpESlRkQ0pUSXllQ1V5TWlVelFTVXlNbmNsTWpJbE1rTWxNako1SlRJeUpUTkJKVEl5YUNVeVJqSWxNaklsTjBRbE5VUWxOMFFsTWtNbE1qSmljSEpZZUdsSVRYZHhPREl6TWprd0pUSXlKVE5CSlRkQ0pUSXlhV1FsTWpJbE0wRWxNakppY0hKWWVHbElUWGR4T0RJek1qa3dKVEl5SlRKREpUSXlibUZ0WlNVeU1pVXpRU1V5TW5KbFkzUmhibWRzWlNVeU1pVXlReVV5TW5ScGRHeGxKVEl5SlROQkpUSXlKVVUzSlRsR0pVRTVKVVUxSlVKRUpVRXlKVEl5SlRKREpUSXlZMkYwWldkdmNua2xNaklsTTBFbE1qSmlZWE5wWXlVeU1pVXlReVV5TW1keWIzVndKVEl5SlROQkpUSXlKVEl5SlRKREpUSXlaM0p2ZFhCT1lXMWxKVEl5SlROQmJuVnNiQ1V5UXlVeU1teHZZMnRsWkNVeU1pVXpRV1poYkhObEpUSkRKVEl5YkdsdWF5VXlNaVV6UVNVeU1pVXlNaVV5UXlVeU1tTm9hV3hrY21WdUpUSXlKVE5CSlRWQ0pUVkVKVEpESlRJeWNHRnlaVzUwSlRJeUpUTkJKVEl5SlRJeUpUSkRKVEl5Y21WemFYcGxSR2x5SlRJeUpUTkJKVFZDSlRJeWRHd2xNaklsTWtNbE1qSjBjaVV5TWlVeVF5VXlNbUp5SlRJeUpUSkRKVEl5WW13bE1qSWxNa01sTWpKc0pUSXlKVEpESlRJeWRDVXlNaVV5UXlVeU1uSWxNaklsTWtNbE1qSmlKVEl5SlRWRUpUSkRKVEl5WVhSMGNtbGlkWFJsSlRJeUpUTkJKVGRDSlRJeVkyOXVkR0ZwYm1WeUpUSXlKVE5CWm1Gc2MyVWxNa01sTWpKMmFYTnBZbXhsSlRJeUpUTkJkSEoxWlNVeVF5VXlNbkp2ZEdGMFlXSnNaU1V5TWlVelFYUnlkV1VsTWtNbE1qSnNhVzVyWVdKc1pTVXlNaVV6UVhSeWRXVWxNa01sTWpKamIyeHNZWEJ6WVdKc1pTVXlNaVV6UVdaaGJITmxKVEpESlRJeVkyOXNiR0Z3YzJWa0pUSXlKVE5CWm1Gc2MyVWxNa01sTWpKbWFYaGxaRXhwYm1zbE1qSWxNMEZtWVd4elpTVXlReVV5TW0xaGNtdGxjazltWm5ObGRDVXlNaVV6UVRVbE4wUWxNa01sTWpKa1lYUmhRWFIwY21saWRYUmxjeVV5TWlVelFTVTFRaVUzUWlVeU1tNWhiV1VsTWpJbE0wRWxNaklsUlRVbFFrRWxPRVlsUlRVbE9FWWxRamNsTWpJbE1rTWxNakowZVhCbEpUSXlKVE5CSlRJeWJuVnRZbVZ5SlRJeUpUSkRKVEl5ZG1Gc2RXVWxNaklsTTBFbE1qSWxNaklsTWtNbE1qSmpZWFJsWjI5eWVTVXlNaVV6UVNVeU1tUmxabUYxYkhRbE1qSWxNa01sTWpKcFpDVXlNaVV6UVNVeU1sbG1UbWRVY0dOWWVVZzRNamMyT1RrbE1qSWxOMFFsTWtNbE4wSWxNakp1WVcxbEpUSXlKVE5CSlRJeUpVVTFKVGt3SlRoRUpVVTNKVUUzSlVJd0pUSXlKVEpESlRJeWRIbHdaU1V5TWlVelFTVXlNbk4wY21sdVp5VXlNaVV5UXlVeU1uWmhiSFZsSlRJeUpUTkJKVEl5SlRJeUpUSkRKVEl5WTJGMFpXZHZjbmtsTWpJbE0wRWxNakprWldaaGRXeDBKVEl5SlRKREpUSXlhV1FsTWpJbE0wRWxNakpNWVhGUGRYUnZlVlpOTnpVMU56ZzRKVEl5SlRkRUpUSkRKVGRDSlRJeWJtRnRaU1V5TWlVelFTVXlNaVZGTmlVNE9TVTRNQ1ZGTmlVNVF5VTRPU1ZGT0NVNE1DVTROU1V5TWlVeVF5VXlNblI1Y0dVbE1qSWxNMEVsTWpKemRISnBibWNsTWpJbE1rTWxNakoyWVd4MVpTVXlNaVV6UVNVeU1pVXlNaVV5UXlVeU1tTmhkR1ZuYjNKNUpUSXlKVE5CSlRJeVpHVm1ZWFZzZENVeU1pVXlReVV5TW1sa0pUSXlKVE5CSlRJeVozRmFUSFJIUjFaYVJqZ3pOekF5TnlVeU1pVTNSQ1V5UXlVM1FpVXlNbTVoYldVbE1qSWxNMEVsTWpJbFJUZ2xRa1lsT1VVbFJUWWxPRVVsUVRVbE1qSWxNa01sTWpKMGVYQmxKVEl5SlROQkpUSXliR2x1YXlVeU1pVXlReVV5TW5aaGJIVmxKVEl5SlROQkpUSXlKVEl5SlRKREpUSXlZMkYwWldkdmNua2xNaklsTTBFbE1qSmtaV1poZFd4MEpUSXlKVEpESlRJeWFXUWxNaklsTTBFbE1qSjFXSFJGZVcxa2RIQkdOelV4TkRZM0pUSXlKVGRFSlRKREpUZENKVEl5Ym1GdFpTVXlNaVV6UVNVeU1pVkZOQ1ZDUlNWQ1JpVkZOeVZCUXlWQ1FTVXlNaVV5UXlVeU1uUjVjR1VsTWpJbE0wRWxNakp6ZEhKcGJtY2xNaklsTWtNbE1qSjJZV3gxWlNVeU1pVXpRU1V5TWlVeU1pVXlReVV5TW1OaGRHVm5iM0o1SlRJeUpUTkJKVEl5WkdWbVlYVnNkQ1V5TWlVeVF5VXlNbWxrSlRJeUpUTkJKVEl5UlhGRWVIQkphR1ZFY2pnM05qRTVPU1V5TWlVM1JDVTFSQ1V5UXlVeU1uQnliM0J6SlRJeUpUTkJKVGRDSlRJeWVDVXlNaVV6UVRNek5DNHpOelVsTWtNbE1qSjVKVEl5SlROQk5UTTBKVEpESlRJeWR5VXlNaVV6UVRFeE5pNHlOU1V5UXlVeU1tZ2xNaklsTTBFek1TVXlReVV5TW5wcGJtUmxlQ1V5TWlVelFUZ2xNa01sTWpKaGJtZHNaU1V5TWlVelFUQWxOMFFsTWtNbE1qSnphR0Z3WlZOMGVXeGxKVEl5SlROQkpUZENKVEl5WVd4d2FHRWxNaklsTTBFeEpUZEVKVEpESlRJeWJHbHVaVk4wZVd4bEpUSXlKVE5CSlRkQ0pUSXliR2x1WlZkcFpIUm9KVEl5SlROQk1TNDFKVGRFSlRKREpUSXlabWxzYkZOMGVXeGxKVEl5SlROQkpUZENKVGRFSlRKREpUSXlkR2hsYldVbE1qSWxNMEVsTjBJbE4wUWxNa01sTWpKd1lYUm9KVEl5SlROQkpUVkNKVGRDSlRJeVlXTjBhVzl1Y3lVeU1pVXpRU1UxUWlVM1FpVXlNbUZqZEdsdmJpVXlNaVV6UVNVeU1tMXZkbVVsTWpJbE1rTWxNako0SlRJeUpUTkJKVEl5TUNVeU1pVXlReVV5TW5rbE1qSWxNMEVsTWpJd0pUSXlKVGRFSlRKREpUZENKVEl5WVdOMGFXOXVKVEl5SlROQkpUSXliR2x1WlNVeU1pVXlReVV5TW5nbE1qSWxNMEVsTWpKM0pUSXlKVEpESlRJeWVTVXlNaVV6UVNVeU1qQWxNaklsTjBRbE1rTWxOMElsTWpKaFkzUnBiMjRsTWpJbE0wRWxNakpzYVc1bEpUSXlKVEpESlRJeWVDVXlNaVV6UVNVeU1uY2xNaklsTWtNbE1qSjVKVEl5SlROQkpUSXlhQ1V5TWlVM1JDVXlReVUzUWlVeU1tRmpkR2x2YmlVeU1pVXpRU1V5TW14cGJtVWxNaklsTWtNbE1qSjRKVEl5SlROQkpUSXlNQ1V5TWlVeVF5VXlNbmtsTWpJbE0wRWxNakpvSlRJeUpUZEVKVEpESlRkQ0pUSXlZV04wYVc5dUpUSXlKVE5CSlRJeVkyeHZjMlVsTWpJbE4wUWxOVVFsTjBRbE5VUWxNa01sTWpKbWIyNTBVM1I1YkdVbE1qSWxNMEVsTjBJbE4wUWxNa01sTWpKMFpYaDBRbXh2WTJzbE1qSWxNMEVsTlVJbE4wSWxNakp3YjNOcGRHbHZiaVV5TWlVelFTVTNRaVV5TW5nbE1qSWxNMEV4TUNVeVF5VXlNbmtsTWpJbE0wRXdKVEpESlRJeWR5VXlNaVV6UVNVeU1uY3RNakFsTWpJbE1rTWxNakpvSlRJeUpUTkJKVEl5YUNVeU1pVTNSQ1V5UXlVeU1uUmxlSFFsTWpJbE0wRWxNakpEYjJSbFltOXZheVV5TUZZeUpUSTJibUp6Y0NVelFpVXlObTVpYzNBbE0wSWxNaklsTjBRbE5VUWxNa01sTWpKaGJtTm9iM0p6SlRJeUpUTkJKVFZDSlRkQ0pUSXllQ1V5TWlVelFTVXlNbmNsTWtZeUpUSXlKVEpESlRJeWVTVXlNaVV6UVNVeU1qQWxNaklsTjBRbE1rTWxOMElsTWpKNEpUSXlKVE5CSlRJeWR5VXlSaklsTWpJbE1rTWxNako1SlRJeUpUTkJKVEl5YUNVeU1pVTNSQ1V5UXlVM1FpVXlNbmdsTWpJbE0wRWxNakl3SlRJeUpUSkRKVEl5ZVNVeU1pVXpRU1V5TW1nbE1rWXlKVEl5SlRkRUpUSkRKVGRDSlRJeWVDVXlNaVV6UVNVeU1uY2xNaklsTWtNbE1qSjVKVEl5SlROQkpUSXlhQ1V5UmpJbE1qSWxOMFFsTlVRbE4wUWxNa01sTWpKVGJVcGFTRnA1ZDBOd016RXpNVE14SlRJeUpUTkJKVGRDSlRJeWFXUWxNaklsTTBFbE1qSlRiVXBhU0ZwNWQwTndNekV6TVRNeEpUSXlKVEpESlRJeWJtRnRaU1V5TWlVelFTVXlNbXhwYm10bGNpVXlNaVV5UXlVeU1uUmxlSFFsTWpJbE0wRWxNaklsTWpJbE1rTWxNakpuY205MWNDVXlNaVV6UVNVeU1pVXlNaVV5UXlVeU1teHBibXRsY2xSNWNHVWxNaklsTTBFbE1qSmljbTlyWlc0bE1qSWxNa01sTWpKd2IybHVkSE1sTWpJbE0wRWxOVUlsTjBJbE1qSjRKVEl5SlROQk16a3lMalVsTWtNbE1qSjVKVEl5SlROQk1UQTFMalVsTjBRbE1rTWxOMElsTWpKNEpUSXlKVE5CTXpreUxqVWxNa01sTWpKNUpUSXlKVE5CTVRBMUxqVWxOMFFsTlVRbE1rTWxNakpzYjJOclpXUWxNaklsTTBGbVlXeHpaU1V5UXlVeU1tUmhkR0ZCZEhSeWFXSjFkR1Z6SlRJeUpUTkJKVFZDSlRWRUpUSkRKVEl5Y0hKdmNITWxNaklsTTBFbE4wSWxNako2YVc1a1pYZ2xNaklsTTBFNUpUZEVKVEpESlRJeWJHbHVaVk4wZVd4bEpUSXlKVE5CSlRkQ0pUSXliR2x1WlZkcFpIUm9KVEl5SlROQk1TNDFKVGRFSlRKREpUSXlabkp2YlNVeU1pVXpRU1UzUWlVeU1uZ2xNaklsTTBFek9USXVOU1V5UXlVeU1ua2xNaklsTTBFNE9DVXlReVV5TW1GdVoyeGxKVEl5SlROQk5DNDNNVEl6T0RnNU9EQXpPRFEyT1NVeVF5VXlNbWxrSlRJeUpUTkJKVEl5YlhOaWNWRjFjMUZGWXpZd016VTBPQ1V5TWlVM1JDVXlReVV5TW5SdkpUSXlKVE5CSlRkQ0pUSXlhV1FsTWpJbE0wRWxNako0UVdGTlRuUk5hVmhxTWpVd05qazBKVEl5SlRKREpUSXllQ1V5TWlVelFUTTVNaTQxSlRKREpUSXllU1V5TWlVelFURXlNeVV5UXlVeU1tRnVaMnhsSlRJeUpUTkJNUzQxTnpBM09UWXpNalkzT1RRNE9UY2xOMFFsTWtNbE1qSjBaWGgwUW14dlkyc2xNaklsTTBFbE5VSWxOVVFsTjBRbE1rTWxNakprVVdaeVlXcEJSbWhVT0RrMU5UZzFKVEl5SlROQkpUZENKVEl5YVdRbE1qSWxNMEVsTWpKa1VXWnlZV3BCUm1oVU9EazFOVGcxSlRJeUpUSkRKVEl5Ym1GdFpTVXlNaVV6UVNVeU1teHBibXRsY2lVeU1pVXlReVV5TW5SbGVIUWxNaklsTTBFbE1qSWxNaklsTWtNbE1qSm5jbTkxY0NVeU1pVXpRU1V5TWlVeU1pVXlReVV5TW14cGJtdGxjbFI1Y0dVbE1qSWxNMEVsTWpKaWNtOXJaVzRsTWpJbE1rTWxNakp3YjJsdWRITWxNaklsTTBFbE5VSWxOMElsTWpKNEpUSXlKVE5CTXpreUxqVWxNa01sTWpKNUpUSXlKVE5CTVRjd0xqVWxOMFFsTWtNbE4wSWxNako0SlRJeUpUTkJNemt5TGpVbE1rTWxNako1SlRJeUpUTkJNVGN3TGpVbE4wUWxOVVFsTWtNbE1qSnNiMk5yWldRbE1qSWxNMEZtWVd4elpTVXlReVV5TW1SaGRHRkJkSFJ5YVdKMWRHVnpKVEl5SlROQkpUVkNKVFZFSlRKREpUSXljSEp2Y0hNbE1qSWxNMEVsTjBJbE1qSjZhVzVrWlhnbE1qSWxNMEV4TUNVM1JDVXlReVV5TW14cGJtVlRkSGxzWlNVeU1pVXpRU1UzUWlVeU1teHBibVZYYVdSMGFDVXlNaVV6UVRFdU5TVTNSQ1V5UXlVeU1tWnliMjBsTWpJbE0wRWxOMElsTWpKNEpUSXlKVE5CTXpreUxqVWxNa01sTWpKNUpUSXlKVE5CTVRVekpUSkRKVEl5WVc1bmJHVWxNaklsTTBFMExqY3hNak00T0RrNE1ETTRORFk1SlRKREpUSXlhV1FsTWpJbE0wRWxNako0UVdGTlRuUk5hVmhxTWpVd05qazBKVEl5SlRkRUpUSkRKVEl5ZEc4bE1qSWxNMEVsTjBJbE1qSnBaQ1V5TWlVelFTVXlNbEpKVFhWcGJuTjVkMll5TWpnMU9ERWxNaklsTWtNbE1qSjRKVEl5SlROQk16a3lMalVsTWtNbE1qSjVKVEl5SlROQk1UZzRKVEpESlRJeVlXNW5iR1VsTWpJbE0wRXhMalUzTURjNU5qTXlOamM1TkRnNU55VTNSQ1V5UXlVeU1uUmxlSFJDYkc5amF5VXlNaVV6UVNVMVFpVTFSQ1UzUkNVeVF5VXlNazUwYWtWWVZWaEhZM2d6T1RVMk5UUWxNaklsTTBFbE4wSWxNakpwWkNVeU1pVXpRU1V5TWs1MGFrVllWVmhIWTNnek9UVTJOVFFsTWpJbE1rTWxNakp1WVcxbEpUSXlKVE5CSlRJeWJHbHVhMlZ5SlRJeUpUSkRKVEl5ZEdWNGRDVXlNaVV6UVNVeU1pVXlNaVV5UXlVeU1tZHliM1Z3SlRJeUpUTkJKVEl5SlRJeUpUSkRKVEl5YkdsdWEyVnlWSGx3WlNVeU1pVXpRU1V5TW1KeWIydGxiaVV5TWlVeVF5VXlNbkJ2YVc1MGN5VXlNaVV6UVNVMVFpVTNRaVV5TW5nbE1qSWxNMEV6T1RJdU5TVXlReVV5TW5rbE1qSWxNMEV5TkRBbE4wUWxNa01sTjBJbE1qSjRKVEl5SlROQk16a3lMalVsTWtNbE1qSjVKVEl5SlROQk1qUXdKVGRFSlRWRUpUSkRKVEl5Ykc5amEyVmtKVEl5SlROQlptRnNjMlVsTWtNbE1qSmtZWFJoUVhSMGNtbGlkWFJsY3lVeU1pVXpRU1UxUWlVMVJDVXlReVV5TW5CeWIzQnpKVEl5SlROQkpUZENKVEl5ZW1sdVpHVjRKVEl5SlROQk1URWxOMFFsTWtNbE1qSnNhVzVsVTNSNWJHVWxNaklsTTBFbE4wSWxNakpzYVc1bFYybGtkR2dsTWpJbE0wRXhMalVsTjBRbE1rTWxNakptY205dEpUSXlKVE5CSlRkQ0pUSXllQ1V5TWlVelFUTTVNaTQxSlRKREpUSXllU1V5TWlVelFUSXlOaVV5UXlVeU1tRnVaMnhsSlRJeUpUTkJOQzQzTVRJek9EZzVPREF6T0RRMk9TVXlReVV5TW1sa0pUSXlKVE5CSlRJeVVrbE5kV2x1YzNsM1pqSXlPRFU0TVNVeU1pVTNSQ1V5UXlVeU1uUnZKVEl5SlROQkpUZENKVEl5YVdRbE1qSWxNMEVsTWpKcFVHeFdRa0owYkV0aE1UTTNNRFk0SlRJeUpUSkRKVEl5ZUNVeU1pVXpRVE01TWk0MUpUSkRKVEl5ZVNVeU1pVXpRVEkxTkNVeVF5VXlNbUZ1WjJ4bEpUSXlKVE5CTVM0MU56QTNPVFl6TWpZM09UUTRPVGNsTjBRbE1rTWxNakowWlhoMFFteHZZMnNsTWpJbE0wRWxOVUlsTlVRbE4wUWxNa01sTWpKcVNrdFhUR2w2UzFSaU9UVTNNakl6SlRJeUpUTkJKVGRDSlRJeWFXUWxNaklsTTBFbE1qSnFTa3RYVEdsNlMxUmlPVFUzTWpJekpUSXlKVEpESlRJeWJtRnRaU1V5TWlVelFTVXlNbXhwYm10bGNpVXlNaVV5UXlVeU1uUmxlSFFsTWpJbE0wRWxNaklsTWpJbE1rTWxNakpuY205MWNDVXlNaVV6UVNVeU1pVXlNaVV5UXlVeU1teHBibXRsY2xSNWNHVWxNaklsTTBFbE1qSmljbTlyWlc0bE1qSWxNa01sTWpKd2IybHVkSE1sTWpJbE0wRWxOVUlsTjBJbE1qSjRKVEl5SlROQk16a3lMalVsTWtNbE1qSjVKVEl5SlROQk16RXdMalVsTjBRbE1rTWxOMElsTWpKNEpUSXlKVE5CTXpreUxqVWxNa01sTWpKNUpUSXlKVE5CTXpFd0xqVWxOMFFsTlVRbE1rTWxNakpzYjJOclpXUWxNaklsTTBGbVlXeHpaU1V5UXlVeU1tUmhkR0ZCZEhSeWFXSjFkR1Z6SlRJeUpUTkJKVFZDSlRWRUpUSkRKVEl5Y0hKdmNITWxNaklsTTBFbE4wSWxNako2YVc1a1pYZ2xNaklsTTBFeE1pVTNSQ1V5UXlVeU1teHBibVZUZEhsc1pTVXlNaVV6UVNVM1FpVXlNbXhwYm1WWGFXUjBhQ1V5TWlVelFURXVOU1UzUkNVeVF5VXlNbVp5YjIwbE1qSWxNMEVsTjBJbE1qSjRKVEl5SlROQk16a3lMalVsTWtNbE1qSjVKVEl5SlROQk1qa3pKVEpESlRJeVlXNW5iR1VsTWpJbE0wRTBMamN4TWpNNE9EazRNRE00TkRZNUpUSkRKVEl5YVdRbE1qSWxNMEVsTWpKcFVHeFdRa0owYkV0aE1UTTNNRFk0SlRJeUpUZEVKVEpESlRJeWRHOGxNaklsTTBFbE4wSWxNakpwWkNVeU1pVXpRU1V5TWxCcVNFeEhaMHRZZEZFd056RTNPVElsTWpJbE1rTWxNako0SlRJeUpUTkJNemt5TGpVbE1rTWxNako1SlRJeUpUTkJNekk0SlRKREpUSXlZVzVuYkdVbE1qSWxNMEV4TGpVM01EYzVOak15TmpjNU5EZzVOeVUzUkNVeVF5VXlNblJsZUhSQ2JHOWpheVV5TWlVelFTVTFRaVUxUkNVM1JDVXlReVV5TWxOS1JrZEVhRzlCVVZFM09UTTVORGdsTWpJbE0wRWxOMElsTWpKcFpDVXlNaVV6UVNVeU1sTktSa2RFYUc5QlVWRTNPVE01TkRnbE1qSWxNa01sTWpKdVlXMWxKVEl5SlROQkpUSXliR2x1YTJWeUpUSXlKVEpESlRJeWRHVjRkQ1V5TWlVelFTVXlNaVV5TWlVeVF5VXlNbWR5YjNWd0pUSXlKVE5CSlRJeUpUSXlKVEpESlRJeWJHbHVhMlZ5Vkhsd1pTVXlNaVV6UVNVeU1tSnliMnRsYmlVeU1pVXlReVV5TW5CdmFXNTBjeVV5TWlVelFTVTFRaVUzUWlVeU1uZ2xNaklsTTBFek9USXVOU1V5UXlVeU1ua2xNaklsTTBFek56a3VOU1UzUkNVeVF5VTNRaVV5TW5nbE1qSWxNMEV6T1RJdU5TVXlReVV5TW5rbE1qSWxNMEV6TnprdU5TVTNSQ1UxUkNVeVF5VXlNbXh2WTJ0bFpDVXlNaVV6UVdaaGJITmxKVEpESlRJeVpHRjBZVUYwZEhKcFluVjBaWE1sTWpJbE0wRWxOVUlsTlVRbE1rTWxNakp3Y205d2N5VXlNaVV6UVNVM1FpVXlNbnBwYm1SbGVDVXlNaVV6UVRFekpUZEVKVEpESlRJeWJHbHVaVk4wZVd4bEpUSXlKVE5CSlRkQ0pUSXliR2x1WlZkcFpIUm9KVEl5SlROQk1TNDFKVGRFSlRKREpUSXlabkp2YlNVeU1pVXpRU1UzUWlVeU1uZ2xNaklsTTBFek9USXVOU1V5UXlVeU1ua2xNaklsTTBFek5qSWxNa01sTWpKaGJtZHNaU1V5TWlVelFUUXVOekV5TXpnNE9UZ3dNemcwTmprbE1rTWxNakpwWkNVeU1pVXpRU1V5TWxCcVNFeEhaMHRZZEZFd056RTNPVElsTWpJbE4wUWxNa01sTWpKMGJ5VXlNaVV6UVNVM1FpVXlNbWxrSlRJeUpUTkJKVEl5Yms5cVUxVlplV3gwY1RNeE5qUTJOeVV5TWlVeVF5VXlNbmdsTWpJbE0wRXpPVEl1TlNVeVF5VXlNbmtsTWpJbE0wRXpPVGNsTWtNbE1qSmhibWRzWlNVeU1pVXpRVEV1TlRjd056azJNekkyTnprME9EazNKVGRFSlRKREpUSXlkR1Y0ZEVKc2IyTnJKVEl5SlROQkpUVkNKVFZFSlRkRUpUSkRKVEl5U0U5YVFWbHFVR1owV1RreU16WTJNU1V5TWlVelFTVTNRaVV5TW1sa0pUSXlKVE5CSlRJeVNFOWFRVmxxVUdaMFdUa3lNelkyTVNVeU1pVXlReVV5TW01aGJXVWxNaklsTTBFbE1qSnNhVzVyWlhJbE1qSWxNa01sTWpKMFpYaDBKVEl5SlROQkpUSXlKVEl5SlRKREpUSXlaM0p2ZFhBbE1qSWxNMEVsTWpJbE1qSWxNa01sTWpKc2FXNXJaWEpVZVhCbEpUSXlKVE5CSlRJeVluSnZhMlZ1SlRJeUpUSkRKVEl5Y0c5cGJuUnpKVEl5SlROQkpUVkNKVGRDSlRJeWVDVXlNaVV6UVRNNU1pNDFKVEpESlRJeWVTVXlNaVV6UVRRME9TNDFKVGRFSlRKREpUZENKVEl5ZUNVeU1pVXpRVE01TWk0MUpUSkRKVEl5ZVNVeU1pVXpRVFEwT1M0MUpUZEVKVFZFSlRKREpUSXliRzlqYTJWa0pUSXlKVE5CWm1Gc2MyVWxNa01sTWpKa1lYUmhRWFIwY21saWRYUmxjeVV5TWlVelFTVTFRaVUxUkNVeVF5VXlNbkJ5YjNCekpUSXlKVE5CSlRkQ0pUSXllbWx1WkdWNEpUSXlKVE5CTVRRbE4wUWxNa01sTWpKc2FXNWxVM1I1YkdVbE1qSWxNMEVsTjBJbE1qSnNhVzVsVjJsa2RHZ2xNaklsTTBFeExqVWxOMFFsTWtNbE1qSm1jbTl0SlRJeUpUTkJKVGRDSlRJeWVDVXlNaVV6UVRNNU1pNDFKVEpESlRJeWVTVXlNaVV6UVRRek1pVXlReVV5TW1GdVoyeGxKVEl5SlROQk5DNDNNVEl6T0RnNU9EQXpPRFEyT1NVeVF5VXlNbWxrSlRJeUpUTkJKVEl5Yms5cVUxVlplV3gwY1RNeE5qUTJOeVV5TWlVM1JDVXlReVV5TW5SdkpUSXlKVE5CSlRkQ0pUSXlhV1FsTWpJbE0wRWxNakpFU1c1V1pWWmhRMk5sTkRVM01UQXhKVEl5SlRKREpUSXllQ1V5TWlVelFUTTVNaTQxSlRKREpUSXllU1V5TWlVelFUUTJOeVV5UXlVeU1tRnVaMnhsSlRJeUpUTkJNUzQxTnpBM09UWXpNalkzT1RRNE9UY2xOMFFsTWtNbE1qSjBaWGgwUW14dlkyc2xNaklsTTBFbE5VSWxOVVFsTjBRbE1rTWxNakprUm1OeVpXSk5iR1JXTmpZd05qazNKVEl5SlROQkpUZENKVEl5YVdRbE1qSWxNMEVsTWpKa1JtTnlaV0pOYkdSV05qWXdOamszSlRJeUpUSkRKVEl5Ym1GdFpTVXlNaVV6UVNVeU1teHBibXRsY2lVeU1pVXlReVV5TW5SbGVIUWxNaklsTTBFbE1qSWxNaklsTWtNbE1qSm5jbTkxY0NVeU1pVXpRU1V5TWlVeU1pVXlReVV5TW14cGJtdGxjbFI1Y0dVbE1qSWxNMEVsTWpKaWNtOXJaVzRsTWpJbE1rTWxNakp3YjJsdWRITWxNaklsTTBFbE5VSWxOMElsTWpKNEpUSXlKVE5CTXpreUxqVWxNa01sTWpKNUpUSXlKVE5CTlRFMkxqVWxOMFFsTWtNbE4wSWxNako0SlRJeUpUTkJNemt5TGpVbE1rTWxNako1SlRJeUpUTkJOVEUyTGpVbE4wUWxOVVFsTWtNbE1qSnNiMk5yWldRbE1qSWxNMEZtWVd4elpTVXlReVV5TW1SaGRHRkJkSFJ5YVdKMWRHVnpKVEl5SlROQkpUVkNKVFZFSlRKREpUSXljSEp2Y0hNbE1qSWxNMEVsTjBJbE1qSjZhVzVrWlhnbE1qSWxNMEV4TlNVM1JDVXlReVV5TW14cGJtVlRkSGxzWlNVeU1pVXpRU1UzUWlVeU1teHBibVZYYVdSMGFDVXlNaVV6UVRFdU5TVTNSQ1V5UXlVeU1tWnliMjBsTWpJbE0wRWxOMElsTWpKNEpUSXlKVE5CTXpreUxqVWxNa01sTWpKNUpUSXlKVE5CTkRrNUpUSkRKVEl5WVc1bmJHVWxNaklsTTBFMExqY3hNak00T0RrNE1ETTRORFk1SlRKREpUSXlhV1FsTWpJbE0wRWxNakpFU1c1V1pWWmhRMk5sTkRVM01UQXhKVEl5SlRkRUpUSkRKVEl5ZEc4bE1qSWxNMEVsTjBJbE1qSnBaQ1V5TWlVelFTVXlNbUp3Y2xoNGFVaE5kM0U0TWpNeU9UQWxNaklsTWtNbE1qSjRKVEl5SlROQk16a3lMalVsTWtNbE1qSjVKVEl5SlROQk5UTTBKVEpESlRJeVlXNW5iR1VsTWpJbE0wRXhMalUzTURjNU5qTXlOamM1TkRnNU55VTNSQ1V5UXlVeU1uUmxlSFJDYkc5amF5VXlNaVV6UVNVMVFpVTFSQ1UzUkNVM1JDVXlReVV5TW1OdmJXMWxiblJ6SlRJeUpUTkJKVFZDSlRWRUpUSkRKVEl5Y0d4MVoybHVjeVV5TWlVelFTVTNRaVUzUkNVeVF5VXlNbUZwUTI5dWRHRnBibVZ5Y3lVeU1pVXpRU1UzUWlVM1JDVXlReVV5TW1sdWMyVnlkRkJoWjJWUGNIUnpKVEl5SlROQkpUZENKVGRFSlRKREpUSXljRzl6ZEZCaGVXMWxiblFsTWpJbE0wRWxOMElsTjBRbE1rTWxNakowYUdWdFpTVXlNaVV6UVNVM1FpVXlNbkJoWjJVbE1qSWxNMEVsTjBJbE1qSmlZV05yWjNKdmRXNWtRMjlzYjNJbE1qSWxNMEVsTWpKMGNtRnVjM0JoY21WdWRDVXlNaVUzUkNVM1JDVTNSQT09IiwKCSJGaWxlSWQiIDogIjEyZDlkNDA3LTM2NDItNGJhMi04ZGM1LTA1NmIwZDA1MDMxNSIKfQo="/>
    </extobj>
  </extobjs>
</s:customData>
</file>

<file path=customXml/itemProps90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6471</Words>
  <Application>WPS 演示</Application>
  <PresentationFormat>宽屏</PresentationFormat>
  <Paragraphs>149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DIMENSION 1 - VISUAL ORGANIZATION</vt:lpstr>
      <vt:lpstr>DIMENSION 1 - VISUAL ORGANIZATION</vt:lpstr>
      <vt:lpstr>DIMENSION 3 - VISUAL LANGUAGE QUALITY</vt:lpstr>
      <vt:lpstr>DIMENSION 1 - VISUAL ORGANIZATION</vt:lpstr>
      <vt:lpstr>DIMENSION 1 - VISUAL ORGANIZATION</vt:lpstr>
      <vt:lpstr>DIMENSION 5 - INFORMATION CLARITY AND FIRST-IMPRESSION COMPREHENSIBILITY</vt:lpstr>
      <vt:lpstr> Manual Evoluation</vt:lpstr>
      <vt:lpstr> Manual Evoluation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琦琦呐</cp:lastModifiedBy>
  <cp:revision>158</cp:revision>
  <dcterms:created xsi:type="dcterms:W3CDTF">2019-06-19T02:08:00Z</dcterms:created>
  <dcterms:modified xsi:type="dcterms:W3CDTF">2026-09-18T12:43:46Z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68CE0E463BFF4F30B5D878724CBAAFA8_11</vt:lpwstr>
  </property>
</Properties>
</file>